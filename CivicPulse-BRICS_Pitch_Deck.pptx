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as Singh" userId="58a414ff1ad2c8c5" providerId="LiveId" clId="{DFD62CD7-C182-471F-AA51-D706BC598118}"/>
    <pc:docChg chg="modSld sldOrd">
      <pc:chgData name="Paras Singh" userId="58a414ff1ad2c8c5" providerId="LiveId" clId="{DFD62CD7-C182-471F-AA51-D706BC598118}" dt="2026-09-19T07:19:03.866" v="1"/>
      <pc:docMkLst>
        <pc:docMk/>
      </pc:docMkLst>
      <pc:sldChg chg="ord">
        <pc:chgData name="Paras Singh" userId="58a414ff1ad2c8c5" providerId="LiveId" clId="{DFD62CD7-C182-471F-AA51-D706BC598118}" dt="2026-09-19T07:19:03.866" v="1"/>
        <pc:sldMkLst>
          <pc:docMk/>
          <pc:sldMk cId="0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Segoe UI"/>
              </a:defRPr>
            </a:pPr>
            <a:r>
              <a:rPr dirty="0"/>
              <a:t>BRICS INNOVATION THEME • TRACK 1 OFFICIAL SUBMISSION</a:t>
            </a:r>
          </a:p>
          <a:p>
            <a:pPr algn="ctr">
              <a:spcBef>
                <a:spcPts val="1200"/>
              </a:spcBef>
              <a:defRPr sz="44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⚡ </a:t>
            </a:r>
            <a:r>
              <a:rPr dirty="0" err="1"/>
              <a:t>CivicPulse</a:t>
            </a:r>
            <a:r>
              <a:rPr dirty="0"/>
              <a:t>-BRICS</a:t>
            </a:r>
          </a:p>
          <a:p>
            <a:pPr algn="ctr">
              <a:spcBef>
                <a:spcPts val="1600"/>
              </a:spcBef>
              <a:defRPr sz="1600">
                <a:solidFill>
                  <a:srgbClr val="9CA3AF"/>
                </a:solidFill>
                <a:latin typeface="Segoe UI"/>
              </a:defRPr>
            </a:pPr>
            <a:r>
              <a:rPr dirty="0"/>
              <a:t>AI for Digital Public Infrastructure (DPI) &amp; Governance: A Sovereign Multilingual AI Platform for Multichannel Citizen Petition Aggregation and </a:t>
            </a:r>
            <a:r>
              <a:rPr dirty="0" err="1"/>
              <a:t>CapEx</a:t>
            </a:r>
            <a:r>
              <a:rPr dirty="0"/>
              <a:t> Infrastructure Budget Realignment.</a:t>
            </a:r>
          </a:p>
          <a:p>
            <a:pPr algn="ctr">
              <a:spcBef>
                <a:spcPts val="2800"/>
              </a:spcBef>
              <a:defRPr sz="1300" b="1">
                <a:solidFill>
                  <a:srgbClr val="06B6D4"/>
                </a:solidFill>
                <a:latin typeface="Segoe UI"/>
              </a:defRPr>
            </a:pPr>
            <a:r>
              <a:rPr dirty="0"/>
              <a:t>🇮🇳 India Node (Delhi NCR)   •   🇧🇷 Brazil Node (São Paulo)   •   🇿🇦 South Africa Node (Gauteng)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Cover &amp; 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The Problem: Governance &amp; </a:t>
            </a:r>
            <a:r>
              <a:rPr dirty="0" err="1"/>
              <a:t>CapEx</a:t>
            </a:r>
            <a:r>
              <a:rPr dirty="0"/>
              <a:t> Friction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rPr dirty="0"/>
              <a:t>Track 1 Challenge — Fragmented feedback &amp; misaligned capital investments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02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Segoe UI"/>
              </a:defRPr>
            </a:pPr>
            <a:r>
              <a:t>🔴 Fragmented Citizen Feedback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Citizen petitions &amp; development requests live in disconnected departmental channels, voice messages, and paper files with zero unified aggregation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Segoe UI"/>
              </a:defRPr>
            </a:pPr>
            <a:r>
              <a:t>🔴 Misaligned CapEx Spending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Millions in capital expenditure (CapEx) are allocated to low-demand projects while critical citizen infrastructure hotspots remain severely neglected.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Segoe UI"/>
              </a:defRPr>
            </a:pPr>
            <a:r>
              <a:t>🔴 Unaddressed Infrastructure Failures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Stormwater pipelines, failing power grids, and transit culverts remain unmonitored until catastrophic climate or urban emergencies strike.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Segoe UI"/>
              </a:defRPr>
            </a:pPr>
            <a:r>
              <a:t>🔴 Missing Demographic &amp; Risk Data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Lack of cross-analysis combining citizen petitions with population density census data, vulnerability indices, and live IMD meteorological risk vectors.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The Problem Statement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Solution: CivicPulse-BRICS Platform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A Sovereign Multilingual AI Platform &amp; Federated Digital Public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03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💬 01. Multichannel Gateway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Native voice notes, photo defect scans, and an automated WhatsApp &amp; Telegram bot webhook aggregating citizen petitions across diverse languages without requiring app installs.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📊 02. AI Budget Deficit Engine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Cross-analyzes weighted citizen demand against actual government CapEx budgets in real-time, surfacing severe spending deficits and misallocations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🤖 03. Gemini Policy Directives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Generates multi-crore capital budget reallocation directives and strategic national infrastructure megaplans for policymakers and ministers.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Core Solution Pillars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Who It Serves: Core Stakeholders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Empowering citizens, municipal field crews, central ministers, and BRICS 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04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🗣️ 1. Citizens &amp; Community Voice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File petitions in native languages via WhatsApp, Telegram, or Web. Voice-to-text translation and real-time status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🏙️ 2. City Municipal Repair Crews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Automated task queue prioritized by AI severity ratings (1-10) + 1-tap Google Maps turn-by-turn route dispatch for field trucks.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🏛️ 3. Central Ministries &amp; Policymakers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GIS Demand Hotspot Heatmaps, CapEx misalignment alerts, IMD weather risk vectors, and Gemini executive policy directives.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🌐 4. BRICS Sovereign Nations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Federated node architecture (India Delhi, Brazil São Paulo, South Africa Gauteng) with cross-border Digital Public Good asset sharing.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Stakeholders &amp;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AI Approach &amp; Multi-Agent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Powered by Google Gemini 2.5 Pro &amp; Flash multi-agent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05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📸 Gemini Vision Defect Agent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Analyzes uploaded infrastructure photos, automatically classifying defect type, severity score (1-10), structural hazard rating, and priority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🎙️ Multilingual Speech &amp; Translation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Converts native voice notes in Hindi, Portuguese, or Zulu to text, translates to English, and generates audio synthesis with Google TTS.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📊 CapEx Budget Alignment Engine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Correlates citizen petition density with census demographics, weather risk vectors, and public investment plans to calculate budget misalignment.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🤖 Gemini Policy Directive Agent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Synthesizes executive policy recommendations and multi-million dollar CapEx budget reallocation proposals for national ministers.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AI Architecture &amp;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Google Technical Stack &amp; Conclusion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Connecting citizen voice to national capital investment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12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🤖 Google Gemini 2.5 Pro &amp; Flash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Multi-agent multimodal vision defect triage, voice-to-text translation, and strategic policy directive generation.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🗺️ Google Maps Platform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Interactive spatial pinpointing &amp; 1-tap turn-by-turn truck navigation routing for field repair crews.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☁️ Google Cloud Run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1-Click serverless containerized deployment running high-performance asynchronous Python Starlette ASGI 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⚡ BigQuery GIS &amp; Firestore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BigQuery GIS spatial warehouse for macro analytics + Firebase Cloud Firestore for real-time sync.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Conclusion &amp; Technology Stack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Live Prototype Demo: Citizen Voice &amp; DPI Gateway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Multilingual voice recorder, multimodal vision defect scanner &amp; weather HUD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06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38912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0233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🚀 Citizen Gateway Features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Multimodal AI Vision Scanner: Photo defect classification &amp; 8.7/10 severity rating.</a:t>
            </a:r>
            <a:br/>
            <a:br/>
            <a:r>
              <a:t>• Multilingual Voice Petitions: Speech recorder with Hindi/English translation toggle.</a:t>
            </a:r>
            <a:br/>
            <a:br/>
            <a:r>
              <a:t>• WhatsApp &amp; Telegram Webhook: Instant bot petition filing without downloading apps.</a:t>
            </a:r>
            <a:br/>
            <a:br/>
            <a:r>
              <a:t>• Live IMD Weather Risk HUD: Real-time monsoon and flood risk vectors.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45920"/>
            <a:ext cx="6035040" cy="4297680"/>
          </a:xfrm>
          <a:prstGeom prst="roundRect">
            <a:avLst/>
          </a:prstGeom>
          <a:solidFill>
            <a:srgbClr val="0C111C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48640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📸  SCREENSHOT DEMO: CITIZEN PORTAL &amp; DPI GATEWAY</a:t>
            </a:r>
          </a:p>
          <a:p>
            <a:pPr algn="ctr">
              <a:spcBef>
                <a:spcPts val="600"/>
              </a:spcBef>
              <a:defRPr sz="1100">
                <a:solidFill>
                  <a:srgbClr val="F59E0B"/>
                </a:solidFill>
                <a:latin typeface="Consolas"/>
              </a:defRPr>
            </a:pPr>
            <a:r>
              <a:t>URL: http://localhost:8000/citizen</a:t>
            </a:r>
          </a:p>
          <a:p>
            <a:pPr>
              <a:spcBef>
                <a:spcPts val="1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Capture &amp; Insert Instructions: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Voice Grievance Recorder with active wave audio visualizer &amp; Hindi/English toggle.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AI Multimodal Defect Scanner with uploaded road pothole image &amp; severity score (8.7/10).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WhatsApp &amp; Telegram bot webhook messaging simulator panel.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Live IMD Weather Risk HUD with monsoon/rainfall alert banners.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Prototype Screenshot — Citizen Portal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Live Prototype Demo: City Operations &amp; Field Triage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Real-time repair queue, priority scoring &amp; Google Maps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07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38912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0233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🏙️ City Operations Features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Real-Time Repair Queue: Dynamic ranking by AI severity score (Critical 9.2/10).</a:t>
            </a:r>
            <a:br/>
            <a:br/>
            <a:r>
              <a:t>• Automated Crew Dispatch: Real-time status tracking for repair trucks (Truck-01 En Route).</a:t>
            </a:r>
            <a:br/>
            <a:br/>
            <a:r>
              <a:t>• Google Maps Field Routing: 1-Tap turn-by-turn route dispatch for municipal vehicles.</a:t>
            </a:r>
            <a:br/>
            <a:br/>
            <a:r>
              <a:t>• Operational Efficiency: Zero manual sorting overhead for field engineers.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45920"/>
            <a:ext cx="6035040" cy="4297680"/>
          </a:xfrm>
          <a:prstGeom prst="roundRect">
            <a:avLst/>
          </a:prstGeom>
          <a:solidFill>
            <a:srgbClr val="0C111C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48640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📸  SCREENSHOT DEMO: CITY OPERATIONS &amp; FIELD TRIAGE</a:t>
            </a:r>
          </a:p>
          <a:p>
            <a:pPr algn="ctr">
              <a:spcBef>
                <a:spcPts val="600"/>
              </a:spcBef>
              <a:defRPr sz="1100">
                <a:solidFill>
                  <a:srgbClr val="F59E0B"/>
                </a:solidFill>
                <a:latin typeface="Consolas"/>
              </a:defRPr>
            </a:pPr>
            <a:r>
              <a:t>URL: http://localhost:8000/city-official</a:t>
            </a:r>
          </a:p>
          <a:p>
            <a:pPr>
              <a:spcBef>
                <a:spcPts val="1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Capture &amp; Insert Instructions: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Live City Repair Queue with prioritized task cards &amp; CRITICAL (9.2/10) badges.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Automated Field Crew Dispatch table showing repair truck status (Truck-01 En Route).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Interactive Google Maps Field Route preview with turn-by-turn navigation overlay.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Prototype Screenshot — City Official Portal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Live Prototype Demo: National Ministry Command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GIS demand heatmap, CapEx misalignment matrix &amp; Gemini directives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08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38912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0233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🏛️ National Command Features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Spatial Demand Hotspots: Interactive Leaflet GIS map visualizing high citizen demand zones.</a:t>
            </a:r>
            <a:br/>
            <a:br/>
            <a:r>
              <a:t>• CapEx Misalignment Matrix: Flags severe budget deficits (88% demand vs 24% budget).</a:t>
            </a:r>
            <a:br/>
            <a:br/>
            <a:r>
              <a:t>• Gemini Policy Directives: Automated multi-crore capital budget reallocation proposals.</a:t>
            </a:r>
            <a:br/>
            <a:br/>
            <a:r>
              <a:t>• Public Investment Integration: Connects directly with national capital budgets.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45920"/>
            <a:ext cx="6035040" cy="4297680"/>
          </a:xfrm>
          <a:prstGeom prst="roundRect">
            <a:avLst/>
          </a:prstGeom>
          <a:solidFill>
            <a:srgbClr val="0C111C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48640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📸  SCREENSHOT DEMO: NATIONAL MINISTRY COMMAND &amp; CAPEX MATRIX</a:t>
            </a:r>
          </a:p>
          <a:p>
            <a:pPr algn="ctr">
              <a:spcBef>
                <a:spcPts val="600"/>
              </a:spcBef>
              <a:defRPr sz="1100">
                <a:solidFill>
                  <a:srgbClr val="F59E0B"/>
                </a:solidFill>
                <a:latin typeface="Consolas"/>
              </a:defRPr>
            </a:pPr>
            <a:r>
              <a:t>URL: http://localhost:8000/government</a:t>
            </a:r>
          </a:p>
          <a:p>
            <a:pPr>
              <a:spcBef>
                <a:spcPts val="1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Capture &amp; Insert Instructions: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Interactive GIS Spatial Demand Heatmap over Delhi NCR coordinates.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CapEx Budget Misalignment Matrix comparing citizen demand index (88%) vs allocated budget (24%).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Google Gemini 2.5 Executive Directives detailing recommended budget shifts.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Prototype Screenshot — Government Command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Live Prototype Demo: BRICS Sovereign Minister Hub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Multi-nation federation nodes, Gemini megaplans &amp; UN SDG telemetry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09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38912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0233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🌐 BRICS Hub Features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Multi-Country Jurisdiction: Switch between India (Delhi), Brazil (São Paulo), and South Africa (Gauteng).</a:t>
            </a:r>
            <a:br/>
            <a:br/>
            <a:r>
              <a:t>• Strategic Megaplans: Automated generation of multi-million infrastructure overhauls ($45M CapEx).</a:t>
            </a:r>
            <a:br/>
            <a:br/>
            <a:r>
              <a:t>• UN SDG Telemetry: Live progress tracking against UN SDGs 9, 11, and 16.</a:t>
            </a:r>
            <a:br/>
            <a:br/>
            <a:r>
              <a:t>• Cross-Border Exchange: Federated DPG data sharing between BRICS nations.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45920"/>
            <a:ext cx="6035040" cy="4297680"/>
          </a:xfrm>
          <a:prstGeom prst="roundRect">
            <a:avLst/>
          </a:prstGeom>
          <a:solidFill>
            <a:srgbClr val="0C111C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48640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📸  SCREENSHOT DEMO: BRICS SOVEREIGN MINISTER HUB</a:t>
            </a:r>
          </a:p>
          <a:p>
            <a:pPr algn="ctr">
              <a:spcBef>
                <a:spcPts val="600"/>
              </a:spcBef>
              <a:defRPr sz="1100">
                <a:solidFill>
                  <a:srgbClr val="F59E0B"/>
                </a:solidFill>
                <a:latin typeface="Consolas"/>
              </a:defRPr>
            </a:pPr>
            <a:r>
              <a:t>URL: http://localhost:8000/central-official</a:t>
            </a:r>
          </a:p>
          <a:p>
            <a:pPr>
              <a:spcBef>
                <a:spcPts val="1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Capture &amp; Insert Instructions: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Multi-nation jurisdiction node selector (India Delhi, Brazil São Paulo, South Africa Gauteng).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Google Gemini 2.5 Strategic Megaplans ($45M Drainage Infrastructure Overhaul).</a:t>
            </a:r>
          </a:p>
          <a:p>
            <a:pPr>
              <a:spcBef>
                <a:spcPts val="400"/>
              </a:spcBef>
              <a:defRPr sz="1050">
                <a:solidFill>
                  <a:srgbClr val="9CA3AF"/>
                </a:solidFill>
                <a:latin typeface="Segoe UI"/>
              </a:defRPr>
            </a:pPr>
            <a:r>
              <a:t>• UN SDG Alignment Telemetry (SDG 9, 11, 16 metrics) &amp; DPG Exchange status.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Prototype Screenshot — BRICS Sovereign Hub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Digital Public Good (DPG) &amp; Open Standards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Built for open governance, interoperability, and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10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📜 OpenAPI 3.0 Webhook Specification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Fully compliant standard webhook endpoint (POST /api/v1/dpg/messaging-webhook) for instant integration with national messaging platforms.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🔒 Privacy &amp; Security by Design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Anonymized citizen telemetry and salted PBKDF2-HMAC-SHA256 password hashing. Zero persistent tracking of sensitive personal identities.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🌐 UN SDG Strategic Alignment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Directly contributes to UN SDG 9 (Industry &amp; Infrastructure), SDG 11 (Sustainable Cities), and SDG 16 (Peace, Justice &amp; Strong Institutions).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011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🔓 Open Data &amp; Interoperability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Exports structured JSON-LD schemas and GIS records compatible with open government portals like data.gov.in and dados.gov.br.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DPG Alliance Standards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Deployability &amp; Scaling Across BRICS</a:t>
            </a:r>
          </a:p>
          <a:p>
            <a:pPr>
              <a:spcBef>
                <a:spcPts val="4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Cloud Run containerization and federated multi-nation jurisdiction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CA3AF"/>
                </a:solidFill>
                <a:latin typeface="Consolas"/>
              </a:defRPr>
            </a:pPr>
            <a:r>
              <a:t>11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🇮🇳 🇮🇳 India Node (Delhi NCR)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PM Gati Shakti Spatial Portal Integration</a:t>
            </a:r>
            <a:br/>
            <a:br/>
            <a:r>
              <a:t>• data.gov.in Civic Grievance Datasets</a:t>
            </a:r>
            <a:br/>
            <a:br/>
            <a:r>
              <a:t>• Live IMD Meteorological Weather Station HUD</a:t>
            </a:r>
            <a:br/>
            <a:br/>
            <a:r>
              <a:t>• CapEx Alignment with Ministry Priorities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🇧🇷 🇧🇷 Brazil Node (São Paulo)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PAC (Programa de Aceleração do Crescimento) Integration</a:t>
            </a:r>
            <a:br/>
            <a:br/>
            <a:r>
              <a:t>• Brazilian Open Data (dados.gov.br)</a:t>
            </a:r>
            <a:br/>
            <a:br/>
            <a:r>
              <a:t>• Multilingual Portuguese Voice Triage</a:t>
            </a:r>
            <a:br/>
            <a:br/>
            <a:r>
              <a:t>• Amazonian Watershed Vulnerability Indices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🇿🇦 🇿🇦 South Africa Node (Gauteng)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  <a:latin typeface="Segoe UI"/>
              </a:defRPr>
            </a:pPr>
            <a:r>
              <a:t>• Municipal Infrastructure Grants (MIG) Integration</a:t>
            </a:r>
            <a:br/>
            <a:br/>
            <a:r>
              <a:t>• National Capital Expenditure Registries</a:t>
            </a:r>
            <a:br/>
            <a:br/>
            <a:r>
              <a:t>• Multilingual Zulu &amp; English Speech Agent</a:t>
            </a:r>
            <a:br/>
            <a:br/>
            <a:r>
              <a:t>• Township Grid Resilience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CivicPulse-BRICS • Track 1 Official Pitch Deck  |  Multi-Jurisdiction Nodes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1693</Words>
  <Application>Microsoft Office PowerPoint</Application>
  <PresentationFormat>Widescreen</PresentationFormat>
  <Paragraphs>134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Paras Singh</cp:lastModifiedBy>
  <cp:revision>1</cp:revision>
  <dcterms:created xsi:type="dcterms:W3CDTF">2013-01-27T09:14:16Z</dcterms:created>
  <dcterms:modified xsi:type="dcterms:W3CDTF">2026-09-19T07:30:46Z</dcterms:modified>
  <cp:category/>
</cp:coreProperties>
</file>