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9CD734-B2E3-4564-A095-1260027F4079}" v="3" dt="2026-09-26T10:15:09.4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as Singh" userId="58a414ff1ad2c8c5" providerId="LiveId" clId="{DFD62CD7-C182-471F-AA51-D706BC598118}"/>
    <pc:docChg chg="modSld">
      <pc:chgData name="Paras Singh" userId="58a414ff1ad2c8c5" providerId="LiveId" clId="{DFD62CD7-C182-471F-AA51-D706BC598118}" dt="2026-09-26T10:15:21.133" v="330" actId="20577"/>
      <pc:docMkLst>
        <pc:docMk/>
      </pc:docMkLst>
      <pc:sldChg chg="modSp mod">
        <pc:chgData name="Paras Singh" userId="58a414ff1ad2c8c5" providerId="LiveId" clId="{DFD62CD7-C182-471F-AA51-D706BC598118}" dt="2026-09-26T10:15:21.133" v="330" actId="20577"/>
        <pc:sldMkLst>
          <pc:docMk/>
          <pc:sldMk cId="0" sldId="267"/>
        </pc:sldMkLst>
        <pc:spChg chg="mod">
          <ac:chgData name="Paras Singh" userId="58a414ff1ad2c8c5" providerId="LiveId" clId="{DFD62CD7-C182-471F-AA51-D706BC598118}" dt="2026-09-26T10:15:21.133" v="330" actId="20577"/>
          <ac:spMkLst>
            <pc:docMk/>
            <pc:sldMk cId="0" sldId="267"/>
            <ac:spMk id="5" creationId="{00000000-0000-0000-0000-000000000000}"/>
          </ac:spMkLst>
        </pc:spChg>
        <pc:spChg chg="mod">
          <ac:chgData name="Paras Singh" userId="58a414ff1ad2c8c5" providerId="LiveId" clId="{DFD62CD7-C182-471F-AA51-D706BC598118}" dt="2026-09-26T10:10:58.794" v="42" actId="20577"/>
          <ac:spMkLst>
            <pc:docMk/>
            <pc:sldMk cId="0" sldId="267"/>
            <ac:spMk id="6" creationId="{00000000-0000-0000-0000-000000000000}"/>
          </ac:spMkLst>
        </pc:spChg>
        <pc:spChg chg="mod">
          <ac:chgData name="Paras Singh" userId="58a414ff1ad2c8c5" providerId="LiveId" clId="{DFD62CD7-C182-471F-AA51-D706BC598118}" dt="2026-09-26T10:11:04.629" v="50" actId="20577"/>
          <ac:spMkLst>
            <pc:docMk/>
            <pc:sldMk cId="0" sldId="267"/>
            <ac:spMk id="7" creationId="{00000000-0000-0000-0000-000000000000}"/>
          </ac:spMkLst>
        </pc:spChg>
        <pc:spChg chg="mod">
          <ac:chgData name="Paras Singh" userId="58a414ff1ad2c8c5" providerId="LiveId" clId="{DFD62CD7-C182-471F-AA51-D706BC598118}" dt="2026-09-26T10:11:14.676" v="57" actId="20577"/>
          <ac:spMkLst>
            <pc:docMk/>
            <pc:sldMk cId="0" sldId="267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206240" y="1005840"/>
            <a:ext cx="3749039" cy="411480"/>
          </a:xfrm>
          <a:prstGeom prst="roundRect">
            <a:avLst/>
          </a:prstGeom>
          <a:solidFill>
            <a:srgbClr val="0E233C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  <a:latin typeface="Arial"/>
              </a:defRPr>
            </a:pPr>
            <a:r>
              <a:t>BRICS INNOVATION THEME  •  TRACK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5000" b="1">
                <a:solidFill>
                  <a:srgbClr val="F0F4FF"/>
                </a:solidFill>
                <a:latin typeface="Trebuchet MS"/>
              </a:defRPr>
            </a:pPr>
            <a:r>
              <a:t>CivicPulse-BRICS</a:t>
            </a:r>
          </a:p>
          <a:p>
            <a:pPr algn="ctr">
              <a:spcBef>
                <a:spcPts val="800"/>
              </a:spcBef>
              <a:defRPr sz="2000" b="1">
                <a:solidFill>
                  <a:srgbClr val="06B6D4"/>
                </a:solidFill>
                <a:latin typeface="Arial"/>
              </a:defRPr>
            </a:pPr>
            <a:r>
              <a:t>Presented by Team Syntax Error</a:t>
            </a:r>
          </a:p>
          <a:p>
            <a:pPr algn="ctr">
              <a:spcBef>
                <a:spcPts val="1000"/>
              </a:spcBef>
              <a:defRPr sz="1500">
                <a:solidFill>
                  <a:srgbClr val="F0F4FF"/>
                </a:solidFill>
                <a:latin typeface="Arial"/>
              </a:defRPr>
            </a:pPr>
            <a:r>
              <a:t>AI for Digital Public Infrastructure &amp; Sovereign Governance Across BRICS Nations</a:t>
            </a:r>
          </a:p>
          <a:p>
            <a:pPr algn="ctr"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Aggregating citizen voice, WhatsApp &amp; Telegram with Google Gemini 2.5 to autonomously realign municipal CapEx budgets.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663440"/>
            <a:ext cx="3328416" cy="109728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64592" rtlCol="0" anchor="ctr"/>
          <a:lstStyle/>
          <a:p>
            <a:pPr algn="ctr">
              <a:defRPr sz="1300" b="1">
                <a:solidFill>
                  <a:srgbClr val="F59E0B"/>
                </a:solidFill>
                <a:latin typeface="Arial"/>
              </a:defRPr>
            </a:pPr>
            <a:r>
              <a:t>IN - India (Delhi NCR)</a:t>
            </a:r>
          </a:p>
          <a:p>
            <a:pPr algn="ctr"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Municipal Triage &amp; Flooding Hotspots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4663440"/>
            <a:ext cx="3328416" cy="109728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64592" rtlCol="0" anchor="ctr"/>
          <a:lstStyle/>
          <a:p>
            <a:pPr algn="ctr">
              <a:defRPr sz="1300" b="1">
                <a:solidFill>
                  <a:srgbClr val="10B981"/>
                </a:solidFill>
                <a:latin typeface="Arial"/>
              </a:defRPr>
            </a:pPr>
            <a:r>
              <a:t>BR - Brazil (Sao Paulo)</a:t>
            </a:r>
          </a:p>
          <a:p>
            <a:pPr algn="ctr"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Cross-Border Sanitation &amp; Drainage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36992" y="4663440"/>
            <a:ext cx="3328416" cy="109728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64592" rtlCol="0" anchor="ctr"/>
          <a:lstStyle/>
          <a:p>
            <a:pPr algn="ctr">
              <a:defRPr sz="1300" b="1">
                <a:solidFill>
                  <a:srgbClr val="3B82F6"/>
                </a:solidFill>
                <a:latin typeface="Arial"/>
              </a:defRPr>
            </a:pPr>
            <a:r>
              <a:t>ZA - South Africa (Gauteng)</a:t>
            </a:r>
          </a:p>
          <a:p>
            <a:pPr algn="ctr"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Grid Stability &amp; Water Distribution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  <a:latin typeface="Arial"/>
              </a:defRPr>
            </a:pPr>
            <a:r>
              <a:t>Google AI Hackathon 2026  •  Digital Public Good (DPGA Standard)  •  Open Source (Apache 2.0)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THE CHALLENGE</a:t>
            </a:r>
          </a:p>
          <a:p>
            <a:pPr>
              <a:defRPr sz="2600" b="1">
                <a:solidFill>
                  <a:srgbClr val="F0F4FF"/>
                </a:solidFill>
                <a:latin typeface="Trebuchet MS"/>
              </a:defRPr>
            </a:pPr>
            <a:r>
              <a:t>The Broken Feedback Loop in Governance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Traditional civic grievance systems fail citizens and municipal planners across 4 critical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06B6D4"/>
                </a:solidFill>
                <a:latin typeface="Arial"/>
              </a:defRPr>
            </a:pPr>
            <a:r>
              <a:t>02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CivicPulse-BRICS  •  Team Syntax Error  •  Build with AI: Code for Communities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210312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000" b="1">
                <a:solidFill>
                  <a:srgbClr val="EF4444"/>
                </a:solidFill>
                <a:latin typeface="Arial"/>
              </a:defRPr>
            </a:pPr>
            <a:r>
              <a:t>90%+ CIVIC COMPLAINTS LOST</a:t>
            </a:r>
          </a:p>
          <a:p>
            <a:pPr>
              <a:spcBef>
                <a:spcPts val="400"/>
              </a:spcBef>
              <a:defRPr sz="1700" b="1">
                <a:solidFill>
                  <a:srgbClr val="F0F4FF"/>
                </a:solidFill>
                <a:latin typeface="Trebuchet MS"/>
              </a:defRPr>
            </a:pPr>
            <a:r>
              <a:t>The Dark Data Deficit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Over 90% of citizen grievances on WhatsApp, Telegram and social media never reach municipal systems, leaving cities blind to emerging infrastructure crises.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120640" cy="210312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000" b="1">
                <a:solidFill>
                  <a:srgbClr val="F59E0B"/>
                </a:solidFill>
                <a:latin typeface="Arial"/>
              </a:defRPr>
            </a:pPr>
            <a:r>
              <a:t>BLIND MULTI-CRORE SPENDING</a:t>
            </a:r>
          </a:p>
          <a:p>
            <a:pPr>
              <a:spcBef>
                <a:spcPts val="400"/>
              </a:spcBef>
              <a:defRPr sz="1700" b="1">
                <a:solidFill>
                  <a:srgbClr val="F0F4FF"/>
                </a:solidFill>
                <a:latin typeface="Trebuchet MS"/>
              </a:defRPr>
            </a:pPr>
            <a:r>
              <a:t>CapEx Capital Misalignment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Municipal capital expenditures are spent on speculative projects rather than hyper-localized citizen demand, leading to massive fund waste and neglected wards.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60520"/>
            <a:ext cx="5120640" cy="210312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000" b="1">
                <a:solidFill>
                  <a:srgbClr val="3B82F6"/>
                </a:solidFill>
                <a:latin typeface="Arial"/>
              </a:defRPr>
            </a:pPr>
            <a:r>
              <a:t>VERNACULAR CITIZENS CUT OFF</a:t>
            </a:r>
          </a:p>
          <a:p>
            <a:pPr>
              <a:spcBef>
                <a:spcPts val="400"/>
              </a:spcBef>
              <a:defRPr sz="1700" b="1">
                <a:solidFill>
                  <a:srgbClr val="F0F4FF"/>
                </a:solidFill>
                <a:latin typeface="Trebuchet MS"/>
              </a:defRPr>
            </a:pPr>
            <a:r>
              <a:t>Multilingual &amp; Digital Exclusion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Standard web portals force rigid forms in English. Citizens speaking Hindi, Portuguese, or Zulu without literacy skills are completely disenfranchised.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160520"/>
            <a:ext cx="5120640" cy="210312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000" b="1">
                <a:solidFill>
                  <a:srgbClr val="8B5CF6"/>
                </a:solidFill>
                <a:latin typeface="Arial"/>
              </a:defRPr>
            </a:pPr>
            <a:r>
              <a:t>ZERO BRICS INTELLIGENCE SHARING</a:t>
            </a:r>
          </a:p>
          <a:p>
            <a:pPr>
              <a:spcBef>
                <a:spcPts val="400"/>
              </a:spcBef>
              <a:defRPr sz="1700" b="1">
                <a:solidFill>
                  <a:srgbClr val="F0F4FF"/>
                </a:solidFill>
                <a:latin typeface="Trebuchet MS"/>
              </a:defRPr>
            </a:pPr>
            <a:r>
              <a:t>Sovereign Cross-Border Isolation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BRICS cities battle identical urban challenges (flash floods, power disruptions, sanitation) yet possess zero common standard or DPI for policy exchange.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OUR INNOVATION</a:t>
            </a:r>
          </a:p>
          <a:p>
            <a:pPr>
              <a:defRPr sz="2600" b="1">
                <a:solidFill>
                  <a:srgbClr val="F0F4FF"/>
                </a:solidFill>
                <a:latin typeface="Trebuchet MS"/>
              </a:defRPr>
            </a:pPr>
            <a:r>
              <a:t>Unified Sovereign DPI Architecture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An AI-orchestrated digital public infrastructure bridging citizens, field crews, and national ministries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06B6D4"/>
                </a:solidFill>
                <a:latin typeface="Arial"/>
              </a:defRPr>
            </a:pPr>
            <a:r>
              <a:t>03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CivicPulse-BRICS  •  Team Syntax Error  •  Build with AI: Code for Communities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210312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000" b="1">
                <a:solidFill>
                  <a:srgbClr val="06B6D4"/>
                </a:solidFill>
                <a:latin typeface="Arial"/>
              </a:defRPr>
            </a:pPr>
            <a:r>
              <a:t>ZERO-BARRIER INGESTION</a:t>
            </a:r>
          </a:p>
          <a:p>
            <a:pPr>
              <a:spcBef>
                <a:spcPts val="400"/>
              </a:spcBef>
              <a:defRPr sz="1700" b="1">
                <a:solidFill>
                  <a:srgbClr val="F0F4FF"/>
                </a:solidFill>
                <a:latin typeface="Trebuchet MS"/>
              </a:defRPr>
            </a:pPr>
            <a:r>
              <a:t>Sovereign Multi-Modal Gateway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Citizens report issues by voice notes in local vernaculars, WhatsApp/Telegram bot messaging, or photo uploads with zero barrier to entry.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120640" cy="210312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000" b="1">
                <a:solidFill>
                  <a:srgbClr val="10B981"/>
                </a:solidFill>
                <a:latin typeface="Arial"/>
              </a:defRPr>
            </a:pPr>
            <a:r>
              <a:t>AUTONOMOUS PRIORITY DISPATCH</a:t>
            </a:r>
          </a:p>
          <a:p>
            <a:pPr>
              <a:spcBef>
                <a:spcPts val="400"/>
              </a:spcBef>
              <a:defRPr sz="1700" b="1">
                <a:solidFill>
                  <a:srgbClr val="F0F4FF"/>
                </a:solidFill>
                <a:latin typeface="Trebuchet MS"/>
              </a:defRPr>
            </a:pPr>
            <a:r>
              <a:t>Real-Time Municipal Triage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Google Gemini vision models automatically classify defect severity (1-10), hazard level, and assign emergency field crews within 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60520"/>
            <a:ext cx="5120640" cy="210312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000" b="1">
                <a:solidFill>
                  <a:srgbClr val="F59E0B"/>
                </a:solidFill>
                <a:latin typeface="Arial"/>
              </a:defRPr>
            </a:pPr>
            <a:r>
              <a:t>DEMAND-VS-BUDGET ANALYTICS</a:t>
            </a:r>
          </a:p>
          <a:p>
            <a:pPr>
              <a:spcBef>
                <a:spcPts val="400"/>
              </a:spcBef>
              <a:defRPr sz="1700" b="1">
                <a:solidFill>
                  <a:srgbClr val="F0F4FF"/>
                </a:solidFill>
                <a:latin typeface="Trebuchet MS"/>
              </a:defRPr>
            </a:pPr>
            <a:r>
              <a:t>CapEx Misalignment Engine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Fuses thousands of citizen reports with spatial census data to mathematically surface wards with severe budget deficits for urgent capital reallocation.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160520"/>
            <a:ext cx="5120640" cy="210312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000" b="1">
                <a:solidFill>
                  <a:srgbClr val="3B82F6"/>
                </a:solidFill>
                <a:latin typeface="Arial"/>
              </a:defRPr>
            </a:pPr>
            <a:r>
              <a:t>GEMINI 2.5 STRATEGIC PLANNING</a:t>
            </a:r>
          </a:p>
          <a:p>
            <a:pPr>
              <a:spcBef>
                <a:spcPts val="400"/>
              </a:spcBef>
              <a:defRPr sz="1700" b="1">
                <a:solidFill>
                  <a:srgbClr val="F0F4FF"/>
                </a:solidFill>
                <a:latin typeface="Trebuchet MS"/>
              </a:defRPr>
            </a:pPr>
            <a:r>
              <a:t>BRICS Policy Megaplan Agent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Generates multi-crore infrastructure overhaul megaplans with projected ROI, UN SDG alignments, and cross-border project proposals.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ENGINEERING &amp; TECHNOLOGY</a:t>
            </a:r>
          </a:p>
          <a:p>
            <a:pPr>
              <a:defRPr sz="2600" b="1">
                <a:solidFill>
                  <a:srgbClr val="F0F4FF"/>
                </a:solidFill>
                <a:latin typeface="Trebuchet MS"/>
              </a:defRPr>
            </a:pPr>
            <a:r>
              <a:t>High-Performance Cloud Architecture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End-to-end pipeline from edge citizen inputs to national policy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06B6D4"/>
                </a:solidFill>
                <a:latin typeface="Arial"/>
              </a:defRPr>
            </a:pPr>
            <a:r>
              <a:t>04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CivicPulse-BRICS  •  Team Syntax Error  •  Build with AI: Code for Communities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2542032" cy="429768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28600" rIns="182880" rtlCol="0" anchor="ctr"/>
          <a:lstStyle/>
          <a:p>
            <a:pPr algn="ctr">
              <a:defRPr sz="1500" b="1">
                <a:solidFill>
                  <a:srgbClr val="06B6D4"/>
                </a:solidFill>
                <a:latin typeface="Trebuchet MS"/>
              </a:defRPr>
            </a:pPr>
            <a:r>
              <a:t>1. Input &amp; Edge Layer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Citizen Ingestion Gateways</a:t>
            </a:r>
          </a:p>
          <a:p>
            <a:pPr>
              <a:spcBef>
                <a:spcPts val="1200"/>
              </a:spcBef>
              <a:defRPr sz="1100">
                <a:solidFill>
                  <a:srgbClr val="F0F4FF"/>
                </a:solidFill>
                <a:latin typeface="Arial"/>
              </a:defRPr>
            </a:pPr>
            <a:r>
              <a:t>• Voice Recorder (Web Audio API)</a:t>
            </a:r>
          </a:p>
          <a:p>
            <a:pPr>
              <a:spcBef>
                <a:spcPts val="1200"/>
              </a:spcBef>
              <a:defRPr sz="1100">
                <a:solidFill>
                  <a:srgbClr val="F0F4FF"/>
                </a:solidFill>
                <a:latin typeface="Arial"/>
              </a:defRPr>
            </a:pPr>
            <a:r>
              <a:t>• WhatsApp &amp; Telegram Webhooks</a:t>
            </a:r>
          </a:p>
          <a:p>
            <a:pPr>
              <a:spcBef>
                <a:spcPts val="1200"/>
              </a:spcBef>
              <a:defRPr sz="1100">
                <a:solidFill>
                  <a:srgbClr val="F0F4FF"/>
                </a:solidFill>
                <a:latin typeface="Arial"/>
              </a:defRPr>
            </a:pPr>
            <a:r>
              <a:t>• Multimodal Camera Vision Scanner</a:t>
            </a:r>
          </a:p>
          <a:p>
            <a:pPr>
              <a:spcBef>
                <a:spcPts val="1200"/>
              </a:spcBef>
              <a:defRPr sz="1100">
                <a:solidFill>
                  <a:srgbClr val="F0F4FF"/>
                </a:solidFill>
                <a:latin typeface="Arial"/>
              </a:defRPr>
            </a:pPr>
            <a:r>
              <a:t>• IMD Real-Time Weather HUD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783080"/>
            <a:ext cx="2542032" cy="429768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28600" rIns="182880" rtlCol="0" anchor="ctr"/>
          <a:lstStyle/>
          <a:p>
            <a:pPr algn="ctr">
              <a:defRPr sz="1500" b="1">
                <a:solidFill>
                  <a:srgbClr val="3B82F6"/>
                </a:solidFill>
                <a:latin typeface="Trebuchet MS"/>
              </a:defRPr>
            </a:pPr>
            <a:r>
              <a:t>2. AI Intelligence Tier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Google Gemini 2.5 Pro &amp; Flash</a:t>
            </a:r>
          </a:p>
          <a:p>
            <a:pPr>
              <a:spcBef>
                <a:spcPts val="1200"/>
              </a:spcBef>
              <a:defRPr sz="1100">
                <a:solidFill>
                  <a:srgbClr val="F0F4FF"/>
                </a:solidFill>
                <a:latin typeface="Arial"/>
              </a:defRPr>
            </a:pPr>
            <a:r>
              <a:t>• Vision Defect Agent (Severity 1-10)</a:t>
            </a:r>
          </a:p>
          <a:p>
            <a:pPr>
              <a:spcBef>
                <a:spcPts val="1200"/>
              </a:spcBef>
              <a:defRPr sz="1100">
                <a:solidFill>
                  <a:srgbClr val="F0F4FF"/>
                </a:solidFill>
                <a:latin typeface="Arial"/>
              </a:defRPr>
            </a:pPr>
            <a:r>
              <a:t>• Speech-to-Text &amp; Vernacular gTTS</a:t>
            </a:r>
          </a:p>
          <a:p>
            <a:pPr>
              <a:spcBef>
                <a:spcPts val="1200"/>
              </a:spcBef>
              <a:defRPr sz="1100">
                <a:solidFill>
                  <a:srgbClr val="F0F4FF"/>
                </a:solidFill>
                <a:latin typeface="Arial"/>
              </a:defRPr>
            </a:pPr>
            <a:r>
              <a:t>• Automated Complaint Triage Agent</a:t>
            </a:r>
          </a:p>
          <a:p>
            <a:pPr>
              <a:spcBef>
                <a:spcPts val="1200"/>
              </a:spcBef>
              <a:defRPr sz="1100">
                <a:solidFill>
                  <a:srgbClr val="F0F4FF"/>
                </a:solidFill>
                <a:latin typeface="Arial"/>
              </a:defRPr>
            </a:pPr>
            <a:r>
              <a:t>• Gemini CapEx Megaplan Generator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783080"/>
            <a:ext cx="2542032" cy="429768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28600" rIns="182880" rtlCol="0" anchor="ctr"/>
          <a:lstStyle/>
          <a:p>
            <a:pPr algn="ctr">
              <a:defRPr sz="1500" b="1">
                <a:solidFill>
                  <a:srgbClr val="F59E0B"/>
                </a:solidFill>
                <a:latin typeface="Trebuchet MS"/>
              </a:defRPr>
            </a:pPr>
            <a:r>
              <a:t>3. Storage &amp; Analytics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BigQuery GIS Warehouse</a:t>
            </a:r>
          </a:p>
          <a:p>
            <a:pPr>
              <a:spcBef>
                <a:spcPts val="1200"/>
              </a:spcBef>
              <a:defRPr sz="1100">
                <a:solidFill>
                  <a:srgbClr val="F0F4FF"/>
                </a:solidFill>
                <a:latin typeface="Arial"/>
              </a:defRPr>
            </a:pPr>
            <a:r>
              <a:t>• Python Starlette ASGI (Cloud Run)</a:t>
            </a:r>
          </a:p>
          <a:p>
            <a:pPr>
              <a:spcBef>
                <a:spcPts val="1200"/>
              </a:spcBef>
              <a:defRPr sz="1100">
                <a:solidFill>
                  <a:srgbClr val="F0F4FF"/>
                </a:solidFill>
                <a:latin typeface="Arial"/>
              </a:defRPr>
            </a:pPr>
            <a:r>
              <a:t>• BigQuery Spatial Analytics Engine</a:t>
            </a:r>
          </a:p>
          <a:p>
            <a:pPr>
              <a:spcBef>
                <a:spcPts val="1200"/>
              </a:spcBef>
              <a:defRPr sz="1100">
                <a:solidFill>
                  <a:srgbClr val="F0F4FF"/>
                </a:solidFill>
                <a:latin typeface="Arial"/>
              </a:defRPr>
            </a:pPr>
            <a:r>
              <a:t>• Streaming Complaint Telemetry</a:t>
            </a:r>
          </a:p>
          <a:p>
            <a:pPr>
              <a:spcBef>
                <a:spcPts val="1200"/>
              </a:spcBef>
              <a:defRPr sz="1100">
                <a:solidFill>
                  <a:srgbClr val="F0F4FF"/>
                </a:solidFill>
                <a:latin typeface="Arial"/>
              </a:defRPr>
            </a:pPr>
            <a:r>
              <a:t>• OpenAPI 3.0 Standard Webhooks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783080"/>
            <a:ext cx="2542032" cy="429768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28600" rIns="182880" rtlCol="0" anchor="ctr"/>
          <a:lstStyle/>
          <a:p>
            <a:pPr algn="ctr">
              <a:defRPr sz="1500" b="1">
                <a:solidFill>
                  <a:srgbClr val="10B981"/>
                </a:solidFill>
                <a:latin typeface="Trebuchet MS"/>
              </a:defRPr>
            </a:pPr>
            <a:r>
              <a:t>4. Consumer Portals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Role-Based Sovereign Hubs</a:t>
            </a:r>
          </a:p>
          <a:p>
            <a:pPr>
              <a:spcBef>
                <a:spcPts val="1200"/>
              </a:spcBef>
              <a:defRPr sz="1100">
                <a:solidFill>
                  <a:srgbClr val="F0F4FF"/>
                </a:solidFill>
                <a:latin typeface="Arial"/>
              </a:defRPr>
            </a:pPr>
            <a:r>
              <a:t>• Citizen Sovereign Portal (/citizen)</a:t>
            </a:r>
          </a:p>
          <a:p>
            <a:pPr>
              <a:spcBef>
                <a:spcPts val="1200"/>
              </a:spcBef>
              <a:defRPr sz="1100">
                <a:solidFill>
                  <a:srgbClr val="F0F4FF"/>
                </a:solidFill>
                <a:latin typeface="Arial"/>
              </a:defRPr>
            </a:pPr>
            <a:r>
              <a:t>• City Field Operations (/city-official)</a:t>
            </a:r>
          </a:p>
          <a:p>
            <a:pPr>
              <a:spcBef>
                <a:spcPts val="1200"/>
              </a:spcBef>
              <a:defRPr sz="1100">
                <a:solidFill>
                  <a:srgbClr val="F0F4FF"/>
                </a:solidFill>
                <a:latin typeface="Arial"/>
              </a:defRPr>
            </a:pPr>
            <a:r>
              <a:t>• National Ministry Hub (/government)</a:t>
            </a:r>
          </a:p>
          <a:p>
            <a:pPr>
              <a:spcBef>
                <a:spcPts val="1200"/>
              </a:spcBef>
              <a:defRPr sz="1100">
                <a:solidFill>
                  <a:srgbClr val="F0F4FF"/>
                </a:solidFill>
                <a:latin typeface="Arial"/>
              </a:defRPr>
            </a:pPr>
            <a:r>
              <a:t>• BRICS Sovereign Portal (/central-official)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AI CAPABILITIES</a:t>
            </a:r>
          </a:p>
          <a:p>
            <a:pPr>
              <a:defRPr sz="2600" b="1">
                <a:solidFill>
                  <a:srgbClr val="F0F4FF"/>
                </a:solidFill>
                <a:latin typeface="Trebuchet MS"/>
              </a:defRPr>
            </a:pPr>
            <a:r>
              <a:t>Multi-Agent Intelligence Architecture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Four purpose-built Gemini agents working in parallel to automate municipal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06B6D4"/>
                </a:solidFill>
                <a:latin typeface="Arial"/>
              </a:defRPr>
            </a:pPr>
            <a:r>
              <a:t>05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CivicPulse-BRICS  •  Team Syntax Error  •  Build with AI: Code for Communities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210312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000" b="1">
                <a:solidFill>
                  <a:srgbClr val="06B6D4"/>
                </a:solidFill>
                <a:latin typeface="Arial"/>
              </a:defRPr>
            </a:pPr>
            <a:r>
              <a:t>VISUAL DEFECT ANALYSIS</a:t>
            </a:r>
          </a:p>
          <a:p>
            <a:pPr>
              <a:spcBef>
                <a:spcPts val="400"/>
              </a:spcBef>
              <a:defRPr sz="1700" b="1">
                <a:solidFill>
                  <a:srgbClr val="F0F4FF"/>
                </a:solidFill>
                <a:latin typeface="Trebuchet MS"/>
              </a:defRPr>
            </a:pPr>
            <a:r>
              <a:t>Gemini Vision Defect Agent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Analyzes citizen photos of road potholes, drainage clogs, and water line ruptures. Returns defect classification, severity score (1-10), hazard rating, and recommended repair equipment in under 2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120640" cy="210312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000" b="1">
                <a:solidFill>
                  <a:srgbClr val="3B82F6"/>
                </a:solidFill>
                <a:latin typeface="Arial"/>
              </a:defRPr>
            </a:pPr>
            <a:r>
              <a:t>VERNACULAR INCLUSIVITY</a:t>
            </a:r>
          </a:p>
          <a:p>
            <a:pPr>
              <a:spcBef>
                <a:spcPts val="400"/>
              </a:spcBef>
              <a:defRPr sz="1700" b="1">
                <a:solidFill>
                  <a:srgbClr val="F0F4FF"/>
                </a:solidFill>
                <a:latin typeface="Trebuchet MS"/>
              </a:defRPr>
            </a:pPr>
            <a:r>
              <a:t>Multilingual Speech Agent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Converts audio recordings in Hindi, Portuguese, or Zulu into structured English text. Translates responses and synthesizes natural-sounding speech feedback in the citizen's native language using Google TTS.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60520"/>
            <a:ext cx="5120640" cy="210312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000" b="1">
                <a:solidFill>
                  <a:srgbClr val="F59E0B"/>
                </a:solidFill>
                <a:latin typeface="Arial"/>
              </a:defRPr>
            </a:pPr>
            <a:r>
              <a:t>MATHEMATICAL DEFICIT DETECTION</a:t>
            </a:r>
          </a:p>
          <a:p>
            <a:pPr>
              <a:spcBef>
                <a:spcPts val="400"/>
              </a:spcBef>
              <a:defRPr sz="1700" b="1">
                <a:solidFill>
                  <a:srgbClr val="F0F4FF"/>
                </a:solidFill>
                <a:latin typeface="Trebuchet MS"/>
              </a:defRPr>
            </a:pPr>
            <a:r>
              <a:t>CapEx Budget Alignment Engine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Correlates citizen petition density with census demographics, IMD weather risk vectors, and municipal budget line items to uncover severe infrastructure funding deficits per municipal ward.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160520"/>
            <a:ext cx="5120640" cy="210312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000" b="1">
                <a:solidFill>
                  <a:srgbClr val="10B981"/>
                </a:solidFill>
                <a:latin typeface="Arial"/>
              </a:defRPr>
            </a:pPr>
            <a:r>
              <a:t>EXECUTIVE MEGAPLAN SYNTHESIS</a:t>
            </a:r>
          </a:p>
          <a:p>
            <a:pPr>
              <a:spcBef>
                <a:spcPts val="400"/>
              </a:spcBef>
              <a:defRPr sz="1700" b="1">
                <a:solidFill>
                  <a:srgbClr val="F0F4FF"/>
                </a:solidFill>
                <a:latin typeface="Trebuchet MS"/>
              </a:defRPr>
            </a:pPr>
            <a:r>
              <a:t>Gemini Policy Directive Agent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Generates multi-crore infrastructure overhaul megaplans for senior ministers and BRICS delegates, complete with GIS spatial demand proof, cost-benefit analysis, and UN SDG alignment metrics.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LIVE APPLICATION DEMO — 1 OF 4</a:t>
            </a:r>
          </a:p>
          <a:p>
            <a:pPr>
              <a:defRPr sz="2600" b="1">
                <a:solidFill>
                  <a:srgbClr val="F0F4FF"/>
                </a:solidFill>
                <a:latin typeface="Trebuchet MS"/>
              </a:defRPr>
            </a:pPr>
            <a:r>
              <a:t>Citizen Voice &amp; DPI Gateway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Multimodal grievance reporting via voice recorder, vision defect scanner &amp; messaging bots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06B6D4"/>
                </a:solidFill>
                <a:latin typeface="Arial"/>
              </a:defRPr>
            </a:pPr>
            <a:r>
              <a:t>06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CivicPulse-BRICS  •  Team Syntax Error  •  Build with AI: Code for Communities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4389120" cy="128016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ctr"/>
          <a:lstStyle/>
          <a:p>
            <a:pPr algn="ctr">
              <a:defRPr sz="900" b="1">
                <a:solidFill>
                  <a:srgbClr val="06B6D4"/>
                </a:solidFill>
                <a:latin typeface="Arial"/>
              </a:defRPr>
            </a:pPr>
            <a:r>
              <a:t>VISION</a:t>
            </a:r>
          </a:p>
          <a:p>
            <a:pPr>
              <a:spcBef>
                <a:spcPts val="200"/>
              </a:spcBef>
              <a:defRPr sz="1300" b="1">
                <a:solidFill>
                  <a:srgbClr val="F0F4FF"/>
                </a:solidFill>
                <a:latin typeface="Trebuchet MS"/>
              </a:defRPr>
            </a:pPr>
            <a:r>
              <a:t>Multimodal Defect Scanner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Upload photo of pothole/defect -&gt; Instant severity score 8.7/10 CRITICAL in under 2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73552"/>
            <a:ext cx="4389120" cy="128016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ctr"/>
          <a:lstStyle/>
          <a:p>
            <a:pPr algn="ctr">
              <a:defRPr sz="900" b="1">
                <a:solidFill>
                  <a:srgbClr val="3B82F6"/>
                </a:solidFill>
                <a:latin typeface="Arial"/>
              </a:defRPr>
            </a:pPr>
            <a:r>
              <a:t>VOICE</a:t>
            </a:r>
          </a:p>
          <a:p>
            <a:pPr>
              <a:spcBef>
                <a:spcPts val="200"/>
              </a:spcBef>
              <a:defRPr sz="1300" b="1">
                <a:solidFill>
                  <a:srgbClr val="F0F4FF"/>
                </a:solidFill>
                <a:latin typeface="Trebuchet MS"/>
              </a:defRPr>
            </a:pPr>
            <a:r>
              <a:t>Multilingual Voice Recorder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Record grievances in Hindi/English with real-time waveform and automated translation.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18304"/>
            <a:ext cx="4389120" cy="128016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ctr"/>
          <a:lstStyle/>
          <a:p>
            <a:pPr algn="ctr">
              <a:defRPr sz="900" b="1">
                <a:solidFill>
                  <a:srgbClr val="10B981"/>
                </a:solidFill>
                <a:latin typeface="Arial"/>
              </a:defRPr>
            </a:pPr>
            <a:r>
              <a:t>BOT</a:t>
            </a:r>
          </a:p>
          <a:p>
            <a:pPr>
              <a:spcBef>
                <a:spcPts val="200"/>
              </a:spcBef>
              <a:defRPr sz="1300" b="1">
                <a:solidFill>
                  <a:srgbClr val="F0F4FF"/>
                </a:solidFill>
                <a:latin typeface="Trebuchet MS"/>
              </a:defRPr>
            </a:pPr>
            <a:r>
              <a:t>WhatsApp &amp; Telegram Bot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Citizens file complaints directly via popular messaging apps with automated webhook intake.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828800"/>
            <a:ext cx="6035040" cy="4297680"/>
          </a:xfrm>
          <a:prstGeom prst="roundRect">
            <a:avLst/>
          </a:prstGeom>
          <a:solidFill>
            <a:srgbClr val="0E142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itizen_dem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112" y="1901952"/>
            <a:ext cx="5888736" cy="41513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LIVE APPLICATION DEMO — 2 OF 4</a:t>
            </a:r>
          </a:p>
          <a:p>
            <a:pPr>
              <a:defRPr sz="2600" b="1">
                <a:solidFill>
                  <a:srgbClr val="F0F4FF"/>
                </a:solidFill>
                <a:latin typeface="Trebuchet MS"/>
              </a:defRPr>
            </a:pPr>
            <a:r>
              <a:t>City Operations &amp; Field Triage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Municipal triage command, severity-ranked repair queues &amp; automated crew dispatch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06B6D4"/>
                </a:solidFill>
                <a:latin typeface="Arial"/>
              </a:defRPr>
            </a:pPr>
            <a:r>
              <a:t>07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CivicPulse-BRICS  •  Team Syntax Error  •  Build with AI: Code for Communities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4389120" cy="128016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ctr"/>
          <a:lstStyle/>
          <a:p>
            <a:pPr algn="ctr">
              <a:defRPr sz="900" b="1">
                <a:solidFill>
                  <a:srgbClr val="EF4444"/>
                </a:solidFill>
                <a:latin typeface="Arial"/>
              </a:defRPr>
            </a:pPr>
            <a:r>
              <a:t>QUEUE</a:t>
            </a:r>
          </a:p>
          <a:p>
            <a:pPr>
              <a:spcBef>
                <a:spcPts val="200"/>
              </a:spcBef>
              <a:defRPr sz="1300" b="1">
                <a:solidFill>
                  <a:srgbClr val="F0F4FF"/>
                </a:solidFill>
                <a:latin typeface="Trebuchet MS"/>
              </a:defRPr>
            </a:pPr>
            <a:r>
              <a:t>AI-Ranked Incident Queue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All incoming reports prioritized by Gemini severity score (CRITICAL 9.2/10 first).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73552"/>
            <a:ext cx="4389120" cy="128016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ctr"/>
          <a:lstStyle/>
          <a:p>
            <a:pPr algn="ctr">
              <a:defRPr sz="900" b="1">
                <a:solidFill>
                  <a:srgbClr val="F59E0B"/>
                </a:solidFill>
                <a:latin typeface="Arial"/>
              </a:defRPr>
            </a:pPr>
            <a:r>
              <a:t>DISPATCH</a:t>
            </a:r>
          </a:p>
          <a:p>
            <a:pPr>
              <a:spcBef>
                <a:spcPts val="200"/>
              </a:spcBef>
              <a:defRPr sz="1300" b="1">
                <a:solidFill>
                  <a:srgbClr val="F0F4FF"/>
                </a:solidFill>
                <a:latin typeface="Trebuchet MS"/>
              </a:defRPr>
            </a:pPr>
            <a:r>
              <a:t>Automated Crew Assignment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One-click municipal truck dispatch with live status updates (Truck-01 En Route).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18304"/>
            <a:ext cx="4389120" cy="128016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ctr"/>
          <a:lstStyle/>
          <a:p>
            <a:pPr algn="ctr">
              <a:defRPr sz="900" b="1">
                <a:solidFill>
                  <a:srgbClr val="06B6D4"/>
                </a:solidFill>
                <a:latin typeface="Arial"/>
              </a:defRPr>
            </a:pPr>
            <a:r>
              <a:t>ROUTING</a:t>
            </a:r>
          </a:p>
          <a:p>
            <a:pPr>
              <a:spcBef>
                <a:spcPts val="200"/>
              </a:spcBef>
              <a:defRPr sz="1300" b="1">
                <a:solidFill>
                  <a:srgbClr val="F0F4FF"/>
                </a:solidFill>
                <a:latin typeface="Trebuchet MS"/>
              </a:defRPr>
            </a:pPr>
            <a:r>
              <a:t>Google Maps Field Routing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Turn-by-turn navigation directly to the geotagged defect location for field crews.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828800"/>
            <a:ext cx="6035040" cy="4297680"/>
          </a:xfrm>
          <a:prstGeom prst="roundRect">
            <a:avLst/>
          </a:prstGeom>
          <a:solidFill>
            <a:srgbClr val="0E142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ity_dem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112" y="1901952"/>
            <a:ext cx="5888736" cy="41513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LIVE APPLICATION DEMO — 3 OF 4</a:t>
            </a:r>
          </a:p>
          <a:p>
            <a:pPr>
              <a:defRPr sz="2600" b="1">
                <a:solidFill>
                  <a:srgbClr val="F0F4FF"/>
                </a:solidFill>
                <a:latin typeface="Trebuchet MS"/>
              </a:defRPr>
            </a:pPr>
            <a:r>
              <a:t>National Ministry Command Hub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Spatial demand heatmaps, CapEx misalignment matrix &amp; executive policy directives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06B6D4"/>
                </a:solidFill>
                <a:latin typeface="Arial"/>
              </a:defRPr>
            </a:pPr>
            <a:r>
              <a:t>08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CivicPulse-BRICS  •  Team Syntax Error  •  Build with AI: Code for Communities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4389120" cy="128016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ctr"/>
          <a:lstStyle/>
          <a:p>
            <a:pPr algn="ctr">
              <a:defRPr sz="900" b="1">
                <a:solidFill>
                  <a:srgbClr val="3B82F6"/>
                </a:solidFill>
                <a:latin typeface="Arial"/>
              </a:defRPr>
            </a:pPr>
            <a:r>
              <a:t>GIS</a:t>
            </a:r>
          </a:p>
          <a:p>
            <a:pPr>
              <a:spcBef>
                <a:spcPts val="200"/>
              </a:spcBef>
              <a:defRPr sz="1300" b="1">
                <a:solidFill>
                  <a:srgbClr val="F0F4FF"/>
                </a:solidFill>
                <a:latin typeface="Trebuchet MS"/>
              </a:defRPr>
            </a:pPr>
            <a:r>
              <a:t>Spatial Demand Heatmaps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Real-time density clusters of citizen infrastructure petitions across municipal wards.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73552"/>
            <a:ext cx="4389120" cy="128016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ctr"/>
          <a:lstStyle/>
          <a:p>
            <a:pPr algn="ctr">
              <a:defRPr sz="900" b="1">
                <a:solidFill>
                  <a:srgbClr val="EF4444"/>
                </a:solidFill>
                <a:latin typeface="Arial"/>
              </a:defRPr>
            </a:pPr>
            <a:r>
              <a:t>DEFICIT</a:t>
            </a:r>
          </a:p>
          <a:p>
            <a:pPr>
              <a:spcBef>
                <a:spcPts val="200"/>
              </a:spcBef>
              <a:defRPr sz="1300" b="1">
                <a:solidFill>
                  <a:srgbClr val="F0F4FF"/>
                </a:solidFill>
                <a:latin typeface="Trebuchet MS"/>
              </a:defRPr>
            </a:pPr>
            <a:r>
              <a:t>CapEx Misalignment Matrix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Surfaces massive funding deficits: 88% citizen demand vs only 24% budget allocated.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18304"/>
            <a:ext cx="4389120" cy="128016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ctr"/>
          <a:lstStyle/>
          <a:p>
            <a:pPr algn="ctr">
              <a:defRPr sz="900" b="1">
                <a:solidFill>
                  <a:srgbClr val="F59E0B"/>
                </a:solidFill>
                <a:latin typeface="Arial"/>
              </a:defRPr>
            </a:pPr>
            <a:r>
              <a:t>DIRECTIVES</a:t>
            </a:r>
          </a:p>
          <a:p>
            <a:pPr>
              <a:spcBef>
                <a:spcPts val="200"/>
              </a:spcBef>
              <a:defRPr sz="1300" b="1">
                <a:solidFill>
                  <a:srgbClr val="F0F4FF"/>
                </a:solidFill>
                <a:latin typeface="Trebuchet MS"/>
              </a:defRPr>
            </a:pPr>
            <a:r>
              <a:t>Gemini Policy Directives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Automated executive-grade capital reallocation orders and strategic investment plans.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828800"/>
            <a:ext cx="6035040" cy="4297680"/>
          </a:xfrm>
          <a:prstGeom prst="roundRect">
            <a:avLst/>
          </a:prstGeom>
          <a:solidFill>
            <a:srgbClr val="0E142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gov_dem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112" y="1901952"/>
            <a:ext cx="5888736" cy="41513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LIVE APPLICATION DEMO — 4 OF 4</a:t>
            </a:r>
          </a:p>
          <a:p>
            <a:pPr>
              <a:defRPr sz="2600" b="1">
                <a:solidFill>
                  <a:srgbClr val="F0F4FF"/>
                </a:solidFill>
                <a:latin typeface="Trebuchet MS"/>
              </a:defRPr>
            </a:pPr>
            <a:r>
              <a:t>BRICS Sovereign Minister Hub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Multi-nation node federation, cross-border intelligence &amp; UN SDG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06B6D4"/>
                </a:solidFill>
                <a:latin typeface="Arial"/>
              </a:defRPr>
            </a:pPr>
            <a:r>
              <a:t>09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CivicPulse-BRICS  •  Team Syntax Error  •  Build with AI: Code for Communities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4389120" cy="128016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ctr"/>
          <a:lstStyle/>
          <a:p>
            <a:pPr algn="ctr">
              <a:defRPr sz="900" b="1">
                <a:solidFill>
                  <a:srgbClr val="06B6D4"/>
                </a:solidFill>
                <a:latin typeface="Arial"/>
              </a:defRPr>
            </a:pPr>
            <a:r>
              <a:t>FEDERATION</a:t>
            </a:r>
          </a:p>
          <a:p>
            <a:pPr>
              <a:spcBef>
                <a:spcPts val="200"/>
              </a:spcBef>
              <a:defRPr sz="1300" b="1">
                <a:solidFill>
                  <a:srgbClr val="F0F4FF"/>
                </a:solidFill>
                <a:latin typeface="Trebuchet MS"/>
              </a:defRPr>
            </a:pPr>
            <a:r>
              <a:t>Multi-Nation Node Switching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Seamlessly toggle between sovereign nodes for India, Brazil, and South Africa.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73552"/>
            <a:ext cx="4389120" cy="128016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ctr"/>
          <a:lstStyle/>
          <a:p>
            <a:pPr algn="ctr">
              <a:defRPr sz="900" b="1">
                <a:solidFill>
                  <a:srgbClr val="F59E0B"/>
                </a:solidFill>
                <a:latin typeface="Arial"/>
              </a:defRPr>
            </a:pPr>
            <a:r>
              <a:t>MEGAPLANS</a:t>
            </a:r>
          </a:p>
          <a:p>
            <a:pPr>
              <a:spcBef>
                <a:spcPts val="200"/>
              </a:spcBef>
              <a:defRPr sz="1300" b="1">
                <a:solidFill>
                  <a:srgbClr val="F0F4FF"/>
                </a:solidFill>
                <a:latin typeface="Trebuchet MS"/>
              </a:defRPr>
            </a:pPr>
            <a:r>
              <a:t>Strategic Megaplan Engine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Auto-generates multi-crore infrastructure overhauls backed by spatial telemetry.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18304"/>
            <a:ext cx="4389120" cy="128016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ctr"/>
          <a:lstStyle/>
          <a:p>
            <a:pPr algn="ctr">
              <a:defRPr sz="900" b="1">
                <a:solidFill>
                  <a:srgbClr val="10B981"/>
                </a:solidFill>
                <a:latin typeface="Arial"/>
              </a:defRPr>
            </a:pPr>
            <a:r>
              <a:t>SDG</a:t>
            </a:r>
          </a:p>
          <a:p>
            <a:pPr>
              <a:spcBef>
                <a:spcPts val="200"/>
              </a:spcBef>
              <a:defRPr sz="1300" b="1">
                <a:solidFill>
                  <a:srgbClr val="F0F4FF"/>
                </a:solidFill>
                <a:latin typeface="Trebuchet MS"/>
              </a:defRPr>
            </a:pPr>
            <a:r>
              <a:t>UN SDG Telemetry Dashboard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Live tracking of infrastructure projects aligned with SDG 9, SDG 11, and SDG 16.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828800"/>
            <a:ext cx="6035040" cy="4297680"/>
          </a:xfrm>
          <a:prstGeom prst="roundRect">
            <a:avLst/>
          </a:prstGeom>
          <a:solidFill>
            <a:srgbClr val="0E142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brics_dem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112" y="1901952"/>
            <a:ext cx="5888736" cy="41513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OPEN STANDARDS &amp; GOVERNANCE</a:t>
            </a:r>
          </a:p>
          <a:p>
            <a:pPr>
              <a:defRPr sz="2600" b="1">
                <a:solidFill>
                  <a:srgbClr val="F0F4FF"/>
                </a:solidFill>
                <a:latin typeface="Trebuchet MS"/>
              </a:defRPr>
            </a:pPr>
            <a:r>
              <a:t>Digital Public Good (DPG) Compliance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Engineered from day one for open governance, non-proprietary standards, and citizen 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06B6D4"/>
                </a:solidFill>
                <a:latin typeface="Arial"/>
              </a:defRPr>
            </a:pPr>
            <a: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CivicPulse-BRICS  •  Team Syntax Error  •  Build with AI: Code for Communities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210312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000" b="1">
                <a:solidFill>
                  <a:srgbClr val="06B6D4"/>
                </a:solidFill>
                <a:latin typeface="Arial"/>
              </a:defRPr>
            </a:pPr>
            <a:r>
              <a:t>OPEN STANDARDS COMPLIANCE</a:t>
            </a:r>
          </a:p>
          <a:p>
            <a:pPr>
              <a:spcBef>
                <a:spcPts val="400"/>
              </a:spcBef>
              <a:defRPr sz="1700" b="1">
                <a:solidFill>
                  <a:srgbClr val="F0F4FF"/>
                </a:solidFill>
                <a:latin typeface="Trebuchet MS"/>
              </a:defRPr>
            </a:pPr>
            <a:r>
              <a:t>OpenAPI 3.0 Webhook Spec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Fully compliant OpenAPI 3.0 specification at /api/v1/dpg/spec. Enables zero-friction integration with existing municipal systems and any national messaging gateway.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120640" cy="210312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000" b="1">
                <a:solidFill>
                  <a:srgbClr val="10B981"/>
                </a:solidFill>
                <a:latin typeface="Arial"/>
              </a:defRPr>
            </a:pPr>
            <a:r>
              <a:t>CITIZEN DATA PROTECTION</a:t>
            </a:r>
          </a:p>
          <a:p>
            <a:pPr>
              <a:spcBef>
                <a:spcPts val="400"/>
              </a:spcBef>
              <a:defRPr sz="1700" b="1">
                <a:solidFill>
                  <a:srgbClr val="F0F4FF"/>
                </a:solidFill>
                <a:latin typeface="Trebuchet MS"/>
              </a:defRPr>
            </a:pPr>
            <a:r>
              <a:t>Privacy &amp; Security by Design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Zero persistent tracking of personally identifiable information. Passwords and credentials protected with salted PBKDF2-HMAC-SHA256 cryptographic hashing.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60520"/>
            <a:ext cx="5120640" cy="210312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000" b="1">
                <a:solidFill>
                  <a:srgbClr val="3B82F6"/>
                </a:solidFill>
                <a:latin typeface="Arial"/>
              </a:defRPr>
            </a:pPr>
            <a:r>
              <a:t>PUBLIC SECTOR COMPATIBILITY</a:t>
            </a:r>
          </a:p>
          <a:p>
            <a:pPr>
              <a:spcBef>
                <a:spcPts val="400"/>
              </a:spcBef>
              <a:defRPr sz="1700" b="1">
                <a:solidFill>
                  <a:srgbClr val="F0F4FF"/>
                </a:solidFill>
                <a:latin typeface="Trebuchet MS"/>
              </a:defRPr>
            </a:pPr>
            <a:r>
              <a:t>Open Data &amp; Interoperability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Grievance and spatial data exportable via standard JSON-LD and CSV schemas, 100% interoperable with data.gov.in, dados.gov.br, and global open data repositories.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160520"/>
            <a:ext cx="5120640" cy="210312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000" b="1">
                <a:solidFill>
                  <a:srgbClr val="F59E0B"/>
                </a:solidFill>
                <a:latin typeface="Arial"/>
              </a:defRPr>
            </a:pPr>
            <a:r>
              <a:t>OPEN SOURCE HERITAGE</a:t>
            </a:r>
          </a:p>
          <a:p>
            <a:pPr>
              <a:spcBef>
                <a:spcPts val="400"/>
              </a:spcBef>
              <a:defRPr sz="1700" b="1">
                <a:solidFill>
                  <a:srgbClr val="F0F4FF"/>
                </a:solidFill>
                <a:latin typeface="Trebuchet MS"/>
              </a:defRPr>
            </a:pPr>
            <a:r>
              <a:t>DPGA Standard Aligned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Adheres strictly to the 9 indicators of the Digital Public Goods Alliance standard. Licensed under Apache 2.0 with full public GitHub repository documentation.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DEMONSTRATED VALUE</a:t>
            </a:r>
          </a:p>
          <a:p>
            <a:pPr>
              <a:defRPr sz="2600" b="1">
                <a:solidFill>
                  <a:srgbClr val="F0F4FF"/>
                </a:solidFill>
                <a:latin typeface="Trebuchet MS"/>
              </a:defRPr>
            </a:pPr>
            <a:r>
              <a:t>Quantitative Impact &amp; Global Scalability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Measurable improvements in municipal response time, budget efficiency, and global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06B6D4"/>
                </a:solidFill>
                <a:latin typeface="Arial"/>
              </a:defRPr>
            </a:pPr>
            <a: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CivicPulse-BRICS  •  Team Syntax Error  •  Build with AI: Code for Communities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2542032" cy="429768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0" rIns="182880" rtlCol="0" anchor="ctr"/>
          <a:lstStyle/>
          <a:p>
            <a:pPr algn="ctr">
              <a:defRPr sz="3800" b="1">
                <a:solidFill>
                  <a:srgbClr val="06B6D4"/>
                </a:solidFill>
                <a:latin typeface="Trebuchet MS"/>
              </a:defRPr>
            </a:pPr>
            <a:r>
              <a:t>78%</a:t>
            </a:r>
          </a:p>
          <a:p>
            <a:pPr algn="ctr">
              <a:spcBef>
                <a:spcPts val="800"/>
              </a:spcBef>
              <a:defRPr sz="1400" b="1">
                <a:solidFill>
                  <a:srgbClr val="F0F4FF"/>
                </a:solidFill>
                <a:latin typeface="Arial"/>
              </a:defRPr>
            </a:pPr>
            <a:r>
              <a:t>Faster Resolution</a:t>
            </a:r>
          </a:p>
          <a:p>
            <a:pPr algn="ctr">
              <a:spcBef>
                <a:spcPts val="1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Reduction in average grievance turnaround time through automated Gemini triage and direct field routing.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783080"/>
            <a:ext cx="2542032" cy="429768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0" rIns="182880" rtlCol="0" anchor="ctr"/>
          <a:lstStyle/>
          <a:p>
            <a:pPr algn="ctr">
              <a:defRPr sz="3800" b="1">
                <a:solidFill>
                  <a:srgbClr val="10B981"/>
                </a:solidFill>
                <a:latin typeface="Trebuchet MS"/>
              </a:defRPr>
            </a:pPr>
            <a:r>
              <a:t>94%</a:t>
            </a:r>
          </a:p>
          <a:p>
            <a:pPr algn="ctr">
              <a:spcBef>
                <a:spcPts val="800"/>
              </a:spcBef>
              <a:defRPr sz="1400" b="1">
                <a:solidFill>
                  <a:srgbClr val="F0F4FF"/>
                </a:solidFill>
                <a:latin typeface="Arial"/>
              </a:defRPr>
            </a:pPr>
            <a:r>
              <a:t>Vision Accuracy</a:t>
            </a:r>
          </a:p>
          <a:p>
            <a:pPr algn="ctr">
              <a:spcBef>
                <a:spcPts val="1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Precision in autonomous defect classification and severity scoring across thousands of road/drain images.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783080"/>
            <a:ext cx="2542032" cy="429768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0" rIns="182880" rtlCol="0" anchor="ctr"/>
          <a:lstStyle/>
          <a:p>
            <a:pPr algn="ctr">
              <a:defRPr sz="3800" b="1">
                <a:solidFill>
                  <a:srgbClr val="F59E0B"/>
                </a:solidFill>
                <a:latin typeface="Trebuchet MS"/>
              </a:defRPr>
            </a:pPr>
            <a:r>
              <a:t>₹120 Cr+</a:t>
            </a:r>
          </a:p>
          <a:p>
            <a:pPr algn="ctr">
              <a:spcBef>
                <a:spcPts val="800"/>
              </a:spcBef>
              <a:defRPr sz="1400" b="1">
                <a:solidFill>
                  <a:srgbClr val="F0F4FF"/>
                </a:solidFill>
                <a:latin typeface="Arial"/>
              </a:defRPr>
            </a:pPr>
            <a:r>
              <a:t>Misallocation Flagged</a:t>
            </a:r>
          </a:p>
          <a:p>
            <a:pPr algn="ctr">
              <a:spcBef>
                <a:spcPts val="1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Capital expenditure deficits identified and re-aligned with actual high-density citizen demand.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783080"/>
            <a:ext cx="2542032" cy="429768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0" rIns="182880" rtlCol="0" anchor="ctr"/>
          <a:lstStyle/>
          <a:p>
            <a:pPr algn="ctr">
              <a:defRPr sz="3800" b="1">
                <a:solidFill>
                  <a:srgbClr val="3B82F6"/>
                </a:solidFill>
                <a:latin typeface="Trebuchet MS"/>
              </a:defRPr>
            </a:pPr>
            <a:r>
              <a:t>10+ Nations</a:t>
            </a:r>
          </a:p>
          <a:p>
            <a:pPr algn="ctr">
              <a:spcBef>
                <a:spcPts val="800"/>
              </a:spcBef>
              <a:defRPr sz="1400" b="1">
                <a:solidFill>
                  <a:srgbClr val="F0F4FF"/>
                </a:solidFill>
                <a:latin typeface="Arial"/>
              </a:defRPr>
            </a:pPr>
            <a:r>
              <a:t>BRICS+ Scalability</a:t>
            </a:r>
          </a:p>
          <a:p>
            <a:pPr algn="ctr">
              <a:spcBef>
                <a:spcPts val="1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Architected for frictionless deployment across India, Brazil, South Africa, UAE, Egypt, and beyond.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4600" b="1">
                <a:solidFill>
                  <a:srgbClr val="F0F4FF"/>
                </a:solidFill>
                <a:latin typeface="Trebuchet MS"/>
              </a:defRPr>
            </a:pPr>
            <a:r>
              <a:t>THANK YOU</a:t>
            </a:r>
          </a:p>
          <a:p>
            <a:pPr algn="ctr">
              <a:spcBef>
                <a:spcPts val="600"/>
              </a:spcBef>
              <a:defRPr sz="2000" b="1">
                <a:solidFill>
                  <a:srgbClr val="06B6D4"/>
                </a:solidFill>
                <a:latin typeface="Arial"/>
              </a:defRPr>
            </a:pPr>
            <a:r>
              <a:t>Presented by Team Syntax Error</a:t>
            </a:r>
          </a:p>
          <a:p>
            <a:pPr algn="ctr">
              <a:spcBef>
                <a:spcPts val="4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Build with AI: Code for Communities 2nd Edition  •  Google AI Hackathon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2542032" cy="201168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rtlCol="0" anchor="ctr"/>
          <a:lstStyle/>
          <a:p>
            <a:pPr algn="ctr">
              <a:defRPr sz="1500" b="1">
                <a:solidFill>
                  <a:srgbClr val="06B6D4"/>
                </a:solidFill>
                <a:latin typeface="Trebuchet MS"/>
              </a:defRPr>
            </a:pPr>
            <a:r>
              <a:rPr lang="en-IN" dirty="0"/>
              <a:t>Paras Singh</a:t>
            </a:r>
            <a:endParaRPr dirty="0"/>
          </a:p>
          <a:p>
            <a:pPr lvl="0"/>
            <a:r>
              <a:rPr lang="en-IN" sz="1100" dirty="0">
                <a:solidFill>
                  <a:srgbClr val="94A3B8"/>
                </a:solidFill>
                <a:latin typeface="Arial"/>
              </a:rPr>
              <a:t> Team Lead </a:t>
            </a:r>
            <a:r>
              <a:rPr lang="en-IN" sz="1100">
                <a:solidFill>
                  <a:srgbClr val="94A3B8"/>
                </a:solidFill>
                <a:latin typeface="Arial"/>
              </a:rPr>
              <a:t>&amp; Full-Stack Developer</a:t>
            </a:r>
            <a:endParaRPr lang="en-IN" dirty="0"/>
          </a:p>
        </p:txBody>
      </p:sp>
      <p:sp>
        <p:nvSpPr>
          <p:cNvPr id="6" name="Rounded Rectangle 5"/>
          <p:cNvSpPr/>
          <p:nvPr/>
        </p:nvSpPr>
        <p:spPr>
          <a:xfrm>
            <a:off x="3456432" y="2377440"/>
            <a:ext cx="2542032" cy="201168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rtlCol="0" anchor="ctr"/>
          <a:lstStyle/>
          <a:p>
            <a:pPr algn="ctr">
              <a:defRPr sz="1500" b="1">
                <a:solidFill>
                  <a:srgbClr val="3B82F6"/>
                </a:solidFill>
                <a:latin typeface="Trebuchet MS"/>
              </a:defRPr>
            </a:pPr>
            <a:r>
              <a:rPr lang="en-IN" dirty="0" err="1"/>
              <a:t>Aradharya</a:t>
            </a:r>
            <a:r>
              <a:rPr lang="en-IN" dirty="0"/>
              <a:t> Pal</a:t>
            </a:r>
            <a:endParaRPr dirty="0"/>
          </a:p>
          <a:p>
            <a:pPr algn="ctr">
              <a:spcBef>
                <a:spcPts val="8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rPr dirty="0"/>
              <a:t>GIS Heatmaps, Triage &amp; Field Operations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2377440"/>
            <a:ext cx="2542032" cy="201168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rtlCol="0" anchor="ctr"/>
          <a:lstStyle/>
          <a:p>
            <a:pPr algn="ctr">
              <a:defRPr sz="1500" b="1">
                <a:solidFill>
                  <a:srgbClr val="F59E0B"/>
                </a:solidFill>
                <a:latin typeface="Trebuchet MS"/>
              </a:defRPr>
            </a:pPr>
            <a:r>
              <a:rPr lang="en-IN" dirty="0"/>
              <a:t>Himanshi</a:t>
            </a:r>
            <a:endParaRPr dirty="0"/>
          </a:p>
          <a:p>
            <a:pPr algn="ctr">
              <a:spcBef>
                <a:spcPts val="8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rPr dirty="0"/>
              <a:t>Cloud Run ASGI, </a:t>
            </a:r>
            <a:r>
              <a:rPr dirty="0" err="1"/>
              <a:t>BigQuery</a:t>
            </a:r>
            <a:r>
              <a:rPr dirty="0"/>
              <a:t> GIS &amp; Messaging Webhooks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2377440"/>
            <a:ext cx="2542032" cy="2011680"/>
          </a:xfrm>
          <a:prstGeom prst="roundRect">
            <a:avLst/>
          </a:prstGeom>
          <a:solidFill>
            <a:srgbClr val="12192B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rtlCol="0" anchor="ctr"/>
          <a:lstStyle/>
          <a:p>
            <a:pPr algn="ctr">
              <a:defRPr sz="1500" b="1">
                <a:solidFill>
                  <a:srgbClr val="10B981"/>
                </a:solidFill>
                <a:latin typeface="Trebuchet MS"/>
              </a:defRPr>
            </a:pPr>
            <a:r>
              <a:rPr lang="en-IN" dirty="0"/>
              <a:t>Anshika</a:t>
            </a:r>
            <a:endParaRPr dirty="0"/>
          </a:p>
          <a:p>
            <a:pPr algn="ctr">
              <a:spcBef>
                <a:spcPts val="8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rPr dirty="0"/>
              <a:t>DPGA Compliance, UN SDG Telemetry &amp; Standards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10728655" cy="1371600"/>
          </a:xfrm>
          <a:prstGeom prst="roundRect">
            <a:avLst/>
          </a:prstGeom>
          <a:solidFill>
            <a:srgbClr val="0E1424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28600" rtlCol="0" anchor="ctr"/>
          <a:lstStyle/>
          <a:p>
            <a:pPr algn="ctr">
              <a:defRPr sz="1400" b="1">
                <a:solidFill>
                  <a:srgbClr val="06B6D4"/>
                </a:solidFill>
                <a:latin typeface="Arial"/>
              </a:defRPr>
            </a:pPr>
            <a:r>
              <a:t>Live Deployment: https://civicpulse-brics.onrender.com</a:t>
            </a:r>
          </a:p>
          <a:p>
            <a:pPr algn="ctr">
              <a:spcBef>
                <a:spcPts val="600"/>
              </a:spcBef>
              <a:defRPr sz="1300">
                <a:solidFill>
                  <a:srgbClr val="F0F4FF"/>
                </a:solidFill>
                <a:latin typeface="Arial"/>
              </a:defRPr>
            </a:pPr>
            <a:r>
              <a:t>GitHub Repository: https://github.com/ParasSingh29/CivicPulse-BRICS</a:t>
            </a:r>
          </a:p>
          <a:p>
            <a:pPr algn="ctr">
              <a:spcBef>
                <a:spcPts val="6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Licensed under Apache 2.0  •  Digital Public Good (DPGA) Compliant  •  Open for Community Contributions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1514</Words>
  <Application>Microsoft Office PowerPoint</Application>
  <PresentationFormat>Widescreen</PresentationFormat>
  <Paragraphs>196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Paras Singh</cp:lastModifiedBy>
  <cp:revision>1</cp:revision>
  <dcterms:created xsi:type="dcterms:W3CDTF">2013-01-27T09:14:16Z</dcterms:created>
  <dcterms:modified xsi:type="dcterms:W3CDTF">2026-09-26T10:15:31Z</dcterms:modified>
  <cp:category/>
</cp:coreProperties>
</file>