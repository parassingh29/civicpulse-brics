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5DCC1-A7F9-4ED1-A429-05BD65D63531}" v="6" dt="2026-09-19T08:37:55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4" y="-14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as Singh" userId="58a414ff1ad2c8c5" providerId="LiveId" clId="{DFD62CD7-C182-471F-AA51-D706BC598118}"/>
    <pc:docChg chg="undo redo custSel modSld">
      <pc:chgData name="Paras Singh" userId="58a414ff1ad2c8c5" providerId="LiveId" clId="{DFD62CD7-C182-471F-AA51-D706BC598118}" dt="2026-09-19T08:41:33.054" v="94" actId="14838"/>
      <pc:docMkLst>
        <pc:docMk/>
      </pc:docMkLst>
      <pc:sldChg chg="addSp delSp modSp mod setBg">
        <pc:chgData name="Paras Singh" userId="58a414ff1ad2c8c5" providerId="LiveId" clId="{DFD62CD7-C182-471F-AA51-D706BC598118}" dt="2026-09-19T08:41:33.054" v="94" actId="14838"/>
        <pc:sldMkLst>
          <pc:docMk/>
          <pc:sldMk cId="0" sldId="256"/>
        </pc:sldMkLst>
        <pc:spChg chg="mod">
          <ac:chgData name="Paras Singh" userId="58a414ff1ad2c8c5" providerId="LiveId" clId="{DFD62CD7-C182-471F-AA51-D706BC598118}" dt="2026-09-19T08:32:07.802" v="45" actId="6549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Paras Singh" userId="58a414ff1ad2c8c5" providerId="LiveId" clId="{DFD62CD7-C182-471F-AA51-D706BC598118}" dt="2026-09-19T08:27:47.566" v="9" actId="478"/>
          <ac:spMkLst>
            <pc:docMk/>
            <pc:sldMk cId="0" sldId="256"/>
            <ac:spMk id="5" creationId="{17681218-8243-1ADB-9138-FD09DB079FCE}"/>
          </ac:spMkLst>
        </pc:spChg>
        <pc:spChg chg="add mod">
          <ac:chgData name="Paras Singh" userId="58a414ff1ad2c8c5" providerId="LiveId" clId="{DFD62CD7-C182-471F-AA51-D706BC598118}" dt="2026-09-19T08:28:12.494" v="12" actId="13822"/>
          <ac:spMkLst>
            <pc:docMk/>
            <pc:sldMk cId="0" sldId="256"/>
            <ac:spMk id="6" creationId="{80B927F6-0647-1E54-DE2C-ECA896C43A93}"/>
          </ac:spMkLst>
        </pc:spChg>
        <pc:spChg chg="add mod">
          <ac:chgData name="Paras Singh" userId="58a414ff1ad2c8c5" providerId="LiveId" clId="{DFD62CD7-C182-471F-AA51-D706BC598118}" dt="2026-09-19T08:41:33.054" v="94" actId="14838"/>
          <ac:spMkLst>
            <pc:docMk/>
            <pc:sldMk cId="0" sldId="256"/>
            <ac:spMk id="9" creationId="{8F121B5B-A6CA-32CD-0014-D8DBCFE2F976}"/>
          </ac:spMkLst>
        </pc:spChg>
        <pc:picChg chg="del mod ord">
          <ac:chgData name="Paras Singh" userId="58a414ff1ad2c8c5" providerId="LiveId" clId="{DFD62CD7-C182-471F-AA51-D706BC598118}" dt="2026-09-19T08:29:39.865" v="16" actId="478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Paras Singh" userId="58a414ff1ad2c8c5" providerId="LiveId" clId="{DFD62CD7-C182-471F-AA51-D706BC598118}" dt="2026-09-19T08:32:39.361" v="50" actId="1076"/>
          <ac:picMkLst>
            <pc:docMk/>
            <pc:sldMk cId="0" sldId="256"/>
            <ac:picMk id="8" creationId="{7BE5036F-53A8-41BE-BE14-4AFAABAA2BA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645920"/>
            <a:ext cx="10362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endParaRPr lang="en-IN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Cover &amp; Executive Summary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0B927F6-0647-1E54-DE2C-ECA896C43A93}"/>
              </a:ext>
            </a:extLst>
          </p:cNvPr>
          <p:cNvSpPr/>
          <p:nvPr/>
        </p:nvSpPr>
        <p:spPr>
          <a:xfrm>
            <a:off x="3744578" y="1126914"/>
            <a:ext cx="4482406" cy="443653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E5036F-53A8-41BE-BE14-4AFAABAA2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815" y="625521"/>
            <a:ext cx="4960908" cy="54393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121B5B-A6CA-32CD-0014-D8DBCFE2F976}"/>
              </a:ext>
            </a:extLst>
          </p:cNvPr>
          <p:cNvSpPr txBox="1"/>
          <p:nvPr/>
        </p:nvSpPr>
        <p:spPr>
          <a:xfrm>
            <a:off x="84077" y="1956802"/>
            <a:ext cx="11770402" cy="32983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Segoe UI"/>
              </a:defRPr>
            </a:pPr>
            <a:r>
              <a:rPr lang="en-IN" sz="2000" dirty="0">
                <a:ln w="19050">
                  <a:solidFill>
                    <a:schemeClr val="tx1"/>
                  </a:solidFill>
                </a:ln>
              </a:rPr>
              <a:t>BRICS INNOVATION THEME • TRACK 1 OFFICIAL SUBMISSION</a:t>
            </a:r>
          </a:p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Segoe UI"/>
              </a:defRPr>
            </a:pPr>
            <a:r>
              <a:rPr lang="en-IN" sz="7200" dirty="0"/>
              <a:t> </a:t>
            </a:r>
            <a:r>
              <a:rPr lang="en-IN" sz="7200" dirty="0" err="1">
                <a:ln w="28575">
                  <a:solidFill>
                    <a:schemeClr val="tx1"/>
                  </a:solidFill>
                </a:ln>
              </a:rPr>
              <a:t>CivicPulse</a:t>
            </a:r>
            <a:r>
              <a:rPr lang="en-IN" sz="7200" dirty="0">
                <a:ln w="28575">
                  <a:solidFill>
                    <a:schemeClr val="tx1"/>
                  </a:solidFill>
                </a:ln>
              </a:rPr>
              <a:t>-BRICS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06B6D4"/>
                </a:solidFill>
                <a:latin typeface="Segoe UI"/>
              </a:defRPr>
            </a:pPr>
            <a:r>
              <a:rPr lang="en-IN" sz="2000" dirty="0">
                <a:ln w="19050">
                  <a:solidFill>
                    <a:schemeClr val="tx1"/>
                  </a:solidFill>
                </a:ln>
                <a:latin typeface="Rockwell Extra Bold" panose="02060903040505020403" pitchFamily="18" charset="0"/>
              </a:rPr>
              <a:t>by Syntax Error</a:t>
            </a:r>
          </a:p>
          <a:p>
            <a:pPr algn="ctr">
              <a:spcBef>
                <a:spcPts val="1600"/>
              </a:spcBef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IN" sz="2000" dirty="0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rPr>
              <a:t>AI for Digital Public Infrastructure (DPI) &amp; Governance: A Sovereign Multilingual AI</a:t>
            </a:r>
          </a:p>
          <a:p>
            <a:pPr algn="ctr">
              <a:spcBef>
                <a:spcPts val="1600"/>
              </a:spcBef>
              <a:defRPr sz="1600">
                <a:solidFill>
                  <a:srgbClr val="9CA3AF"/>
                </a:solidFill>
                <a:latin typeface="Segoe UI"/>
              </a:defRPr>
            </a:pPr>
            <a:r>
              <a:rPr lang="en-IN" sz="2000" dirty="0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rPr>
              <a:t> Platform for Multichannel Citizen Petition Aggregation and </a:t>
            </a:r>
            <a:r>
              <a:rPr lang="en-IN" sz="2000" dirty="0" err="1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rPr>
              <a:t>CapEx</a:t>
            </a:r>
            <a:r>
              <a:rPr lang="en-IN" sz="2000" dirty="0">
                <a:effectLst>
                  <a:innerShdw blurRad="63500" dist="50800" dir="10800000">
                    <a:prstClr val="black">
                      <a:alpha val="50000"/>
                    </a:prstClr>
                  </a:innerShdw>
                </a:effectLst>
              </a:rPr>
              <a:t> Infrastructure Budget Realignment.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Problem: Governance &amp; CapEx Friction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Track 1 Challenge — Fragmented feedback &amp; misaligned capital investments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02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🔴 Fragmented Citizen Feedback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Citizen petitions &amp; development requests live in disconnected departmental channels, voice messages, and paper files with zero unified aggregation engine.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🔴 Misaligned CapEx Spending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Millions in capital expenditure (CapEx) are allocated to low-demand projects while critical citizen infrastructure hotspots remain severely neglected.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🔴 Unaddressed Infrastructure Failures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Stormwater pipelines, failing power grids, and transit culverts remain unmonitored until catastrophic climate or urban emergencies strike.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EF4444"/>
                </a:solidFill>
                <a:latin typeface="Segoe UI"/>
              </a:defRPr>
            </a:pPr>
            <a:r>
              <a:t>🔴 Missing Demographic &amp; Risk Data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Lack of cross-analysis combining citizen petitions with population density census data, vulnerability indices, and live IMD meteorological risk vectors.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The 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The Solution: CivicPulse-BRICS Platform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A Sovereign Multilingual AI Platform &amp; Federated Digital Public Good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03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💬 01. Multichannel Gateway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Native voice notes, photo defect scans, and an automated WhatsApp &amp; Telegram bot webhook aggregating citizen petitions across diverse languages without requiring app installs.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📊 02. AI Budget Deficit Engine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Cross-analyzes weighted citizen demand against actual government CapEx budgets in real-time, surfacing severe spending deficits and misallocations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01752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🤖 03. Gemini Policy Directives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Generates multi-crore capital budget reallocation directives and strategic national infrastructure megaplans for policymakers and ministers.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Core Solution Pillars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Who It Serves: Core Stakeholders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Empowering citizens, municipal field crews, central ministers, and BRICS nations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04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🗣️ 1. Citizens &amp; Community Voice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File petitions in native languages via WhatsApp, Telegram, or Web. Voice-to-text translation and real-time status tracking.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🏙️ 2. City Municipal Repair Crews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Automated task queue prioritized by AI severity ratings (1-10) + 1-tap Google Maps turn-by-turn route dispatch for field trucks.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🏛️ 3. Central Ministries &amp; Policymakers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GIS Demand Hotspot Heatmaps, CapEx misalignment alerts, IMD weather risk vectors, and Gemini executive policy directives.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🌐 4. BRICS Sovereign Nations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Federated node architecture (India Delhi, Brazil São Paulo, South Africa Gauteng) with cross-border Digital Public Good asset sharing.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Stakeholders &amp;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AI Approach &amp; Multi-Agent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Powered by Google Gemini 2.5 Pro &amp; Flash multi-agent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rPr dirty="0"/>
              <a:t>05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Gemini Vision Defect Agent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Analyzes uploaded infrastructure photos, automatically classifying defect type, severity score (1-10), structural hazard rating, and priority code.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🎙️ Multilingual Speech &amp; Translation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Converts native voice notes in Hindi, Portuguese, or Zulu to text, translates to English, and generates audio synthesis with Google TTS.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📊 CapEx Budget Alignment Engine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Correlates citizen petition density with census demographics, weather risk vectors, and public investment plans to calculate budget misalignment.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🤖 Gemini Policy Directive Agent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Synthesizes executive policy recommendations and multi-million dollar CapEx budget reallocation proposals for national ministers.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AI Architecture &amp;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Prototype Demo: Citizen Voice &amp; DPI Gateway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Multilingual voice recorder, multimodal vision defect scanner &amp; weather HUD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06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🚀 Citizen Gateway Features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Multimodal AI Vision Scanner: Photo defect classification &amp; 8.7/10 severity rating.</a:t>
            </a:r>
            <a:br/>
            <a:br/>
            <a:r>
              <a:t>• Multilingual Voice Petitions: Speech recorder with Hindi/English translation toggle.</a:t>
            </a:r>
            <a:br/>
            <a:br/>
            <a:r>
              <a:t>• WhatsApp &amp; Telegram Webhook: Instant bot petition filing without downloading apps.</a:t>
            </a:r>
            <a:br/>
            <a:br/>
            <a:r>
              <a:t>• Live IMD Weather Risk HUD: Real-time monsoon and flood risk vectors.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6035040" cy="4297680"/>
          </a:xfrm>
          <a:prstGeom prst="roundRect">
            <a:avLst/>
          </a:prstGeom>
          <a:solidFill>
            <a:srgbClr val="0C111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 SCREENSHOT DEMO: CITIZEN PORTAL &amp; DPI GATEWAY</a:t>
            </a:r>
          </a:p>
          <a:p>
            <a:pPr algn="ctr">
              <a:spcBef>
                <a:spcPts val="6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URL: http://localhost:8000/citizen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Capture &amp; Insert Instructions: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Voice Grievance Recorder with active wave audio visualizer &amp; Hindi/English toggle.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AI Multimodal Defect Scanner with uploaded road pothole image &amp; severity score (8.7/10).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WhatsApp &amp; Telegram bot webhook messaging simulator panel.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Live IMD Weather Risk HUD with monsoon/rainfall alert banners.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Prototype Screenshot — Citizen Portal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Prototype Demo: City Operations &amp; Field Triage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Real-time repair queue, priority scoring &amp; Google Maps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07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🏙️ City Operations Features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Real-Time Repair Queue: Dynamic ranking by AI severity score (Critical 9.2/10).</a:t>
            </a:r>
            <a:br/>
            <a:br/>
            <a:r>
              <a:t>• Automated Crew Dispatch: Real-time status tracking for repair trucks (Truck-01 En Route).</a:t>
            </a:r>
            <a:br/>
            <a:br/>
            <a:r>
              <a:t>• Google Maps Field Routing: 1-Tap turn-by-turn route dispatch for municipal vehicles.</a:t>
            </a:r>
            <a:br/>
            <a:br/>
            <a:r>
              <a:t>• Operational Efficiency: Zero manual sorting overhead for field engineers.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6035040" cy="4297680"/>
          </a:xfrm>
          <a:prstGeom prst="roundRect">
            <a:avLst/>
          </a:prstGeom>
          <a:solidFill>
            <a:srgbClr val="0C111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 SCREENSHOT DEMO: CITY OPERATIONS &amp; FIELD TRIAGE</a:t>
            </a:r>
          </a:p>
          <a:p>
            <a:pPr algn="ctr">
              <a:spcBef>
                <a:spcPts val="6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URL: http://localhost:8000/city-official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Capture &amp; Insert Instructions: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Live City Repair Queue with prioritized task cards &amp; CRITICAL (9.2/10) badges.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Automated Field Crew Dispatch table showing repair truck status (Truck-01 En Route).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Interactive Google Maps Field Route preview with turn-by-turn navigation overlay.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Prototype Screenshot — City Official Portal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Prototype Demo: National Ministry Command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GIS demand heatmap, CapEx misalignment matrix &amp; Gemini directives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08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🏛️ National Command Features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Spatial Demand Hotspots: Interactive Leaflet GIS map visualizing high citizen demand zones.</a:t>
            </a:r>
            <a:br/>
            <a:br/>
            <a:r>
              <a:t>• CapEx Misalignment Matrix: Flags severe budget deficits (88% demand vs 24% budget).</a:t>
            </a:r>
            <a:br/>
            <a:br/>
            <a:r>
              <a:t>• Gemini Policy Directives: Automated multi-crore capital budget reallocation proposals.</a:t>
            </a:r>
            <a:br/>
            <a:br/>
            <a:r>
              <a:t>• Public Investment Integration: Connects directly with national capital budgets.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6035040" cy="4297680"/>
          </a:xfrm>
          <a:prstGeom prst="roundRect">
            <a:avLst/>
          </a:prstGeom>
          <a:solidFill>
            <a:srgbClr val="0C111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 SCREENSHOT DEMO: NATIONAL MINISTRY COMMAND &amp; CAPEX MATRIX</a:t>
            </a:r>
          </a:p>
          <a:p>
            <a:pPr algn="ctr">
              <a:spcBef>
                <a:spcPts val="6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URL: http://localhost:8000/government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Capture &amp; Insert Instructions: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Interactive GIS Spatial Demand Heatmap over Delhi NCR coordinates.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CapEx Budget Misalignment Matrix comparing citizen demand index (88%) vs allocated budget (24%).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Google Gemini 2.5 Executive Directives detailing recommended budget shifts.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Prototype Screenshot — Government Command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Live Prototype Demo: BRICS Sovereign Minister Hub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Multi-nation federation nodes, Gemini megaplans &amp; UN SDG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09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389120" cy="4297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🌐 BRICS Hub Features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Multi-Country Jurisdiction: Switch between India (Delhi), Brazil (São Paulo), and South Africa (Gauteng).</a:t>
            </a:r>
            <a:br/>
            <a:br/>
            <a:r>
              <a:t>• Strategic Megaplans: Automated generation of multi-million infrastructure overhauls ($45M CapEx).</a:t>
            </a:r>
            <a:br/>
            <a:br/>
            <a:r>
              <a:t>• UN SDG Telemetry: Live progress tracking against UN SDGs 9, 11, and 16.</a:t>
            </a:r>
            <a:br/>
            <a:br/>
            <a:r>
              <a:t>• Cross-Border Exchange: Federated DPG data sharing between BRICS 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6035040" cy="4297680"/>
          </a:xfrm>
          <a:prstGeom prst="roundRect">
            <a:avLst/>
          </a:prstGeom>
          <a:solidFill>
            <a:srgbClr val="0C111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0" y="1920240"/>
            <a:ext cx="548640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📸  SCREENSHOT DEMO: BRICS SOVEREIGN MINISTER HUB</a:t>
            </a:r>
          </a:p>
          <a:p>
            <a:pPr algn="ctr">
              <a:spcBef>
                <a:spcPts val="6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URL: http://localhost:8000/central-official</a:t>
            </a:r>
          </a:p>
          <a:p>
            <a:pPr>
              <a:spcBef>
                <a:spcPts val="1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Capture &amp; Insert Instructions: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Multi-nation jurisdiction node selector (India Delhi, Brazil São Paulo, South Africa Gauteng).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Google Gemini 2.5 Strategic Megaplans ($45M Drainage Infrastructure Overhaul).</a:t>
            </a:r>
          </a:p>
          <a:p>
            <a:pPr>
              <a:spcBef>
                <a:spcPts val="400"/>
              </a:spcBef>
              <a:defRPr sz="1050">
                <a:solidFill>
                  <a:srgbClr val="9CA3AF"/>
                </a:solidFill>
                <a:latin typeface="Segoe UI"/>
              </a:defRPr>
            </a:pPr>
            <a:r>
              <a:t>• UN SDG Alignment Telemetry (SDG 9, 11, 16 metrics) &amp; DPG Exchange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Prototype Screenshot — BRICS Sovereign 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Digital Public Good (DPG) &amp; Open Standards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Built for open governance, interoperability, and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10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📜 OpenAPI 3.0 Webhook Specification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Fully compliant standard webhook endpoint (POST /api/v1/dpg/messaging-webhook) for instant integration with national messaging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🔒 Privacy &amp; Security by Design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Anonymized citizen telemetry and salted PBKDF2-HMAC-SHA256 password hashing. Zero persistent tracking of sensitive personal identities.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🌐 UN SDG Strategic Alignment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Directly contributes to UN SDG 9 (Industry &amp; Infrastructure), SDG 11 (Sustainable Cities), and SDG 16 (Peace, Justice &amp; Strong Institutions).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41148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🔓 Open Data &amp; Interoperability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Exports structured JSON-LD schemas and GIS records compatible with open government portals like data.gov.in and dados.gov.br.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DPG Alliance Standards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Deployability, BRICS Scale &amp; Google Tech Stack</a:t>
            </a:r>
          </a:p>
          <a:p>
            <a:pPr>
              <a:spcBef>
                <a:spcPts val="400"/>
              </a:spcBef>
              <a:defRPr sz="1300">
                <a:solidFill>
                  <a:srgbClr val="06B6D4"/>
                </a:solidFill>
                <a:latin typeface="Segoe UI"/>
              </a:defRPr>
            </a:pPr>
            <a:r>
              <a:t>Cloud Run containerization, federated jurisdiction nodes &amp; Google Cloud AI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36576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CA3AF"/>
                </a:solidFill>
                <a:latin typeface="Consolas"/>
              </a:defRPr>
            </a:pPr>
            <a:r>
              <a:t>11 /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🇮🇳 India Node (Delhi NCR)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PM Gati Shakti spatial portal &amp; data.gov.in integration</a:t>
            </a:r>
            <a:br/>
            <a:r>
              <a:t>• Live IMD meteorological weather telemetry HUD</a:t>
            </a:r>
            <a:br/>
            <a:r>
              <a:t>• CapEx alignment with national ministry priorities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🇧🇷 Brazil Node (São Paulo)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PAC (Programa de Aceleração do Crescimento) integration</a:t>
            </a:r>
            <a:br/>
            <a:r>
              <a:t>• Brazilian Open Data (dados.gov.br) &amp; Portuguese triage</a:t>
            </a:r>
            <a:br/>
            <a:r>
              <a:t>• Amazonian watershed flood &amp; vulnerability indices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512064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🇿🇦 South Africa Node (Gauteng)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• Municipal Infrastructure Grants (MIG) registry integration</a:t>
            </a:r>
            <a:br/>
            <a:r>
              <a:t>• Multilingual Zulu &amp; English speech triage agent</a:t>
            </a:r>
            <a:br/>
            <a:r>
              <a:t>• Township power grid &amp; water resilience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560320" cy="2148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1945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6B6D4"/>
                </a:solidFill>
                <a:latin typeface="Segoe UI"/>
              </a:defRPr>
            </a:pPr>
            <a:r>
              <a:t>🤖 Gemini 2.5 AI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Google Gemini 2.5 Pro &amp; Flash multi-agent defect triage, voice translation, and strategic policy directives.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560320" cy="2148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0" y="1828800"/>
            <a:ext cx="21945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B82F6"/>
                </a:solidFill>
                <a:latin typeface="Segoe UI"/>
              </a:defRPr>
            </a:pPr>
            <a:r>
              <a:t>🗺️ Google Maps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Interactive spatial pinpointing &amp; 1-tap turn-by-turn routing for municipal repair trucks.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86200"/>
            <a:ext cx="2560320" cy="2148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21945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☁️ Cloud Run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Serverless containerized microservices running high-performance asynchronous Python ASGI core.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886200"/>
            <a:ext cx="2560320" cy="21488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4069080"/>
            <a:ext cx="219456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⚡ BigQuery GIS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  <a:latin typeface="Segoe UI"/>
              </a:defRPr>
            </a:pPr>
            <a:r>
              <a:t>Spatial warehouse (POINT coordinates) for macro analysis + Firebase Cloud Firestore realtime sync.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BRICS Federation &amp; Google Tech Stack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20040"/>
            <a:ext cx="10362895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Bef>
                <a:spcPts val="200"/>
              </a:spcBef>
              <a:defRPr sz="1600" b="1">
                <a:solidFill>
                  <a:srgbClr val="06B6D4"/>
                </a:solidFill>
                <a:latin typeface="Segoe UI"/>
              </a:defRPr>
            </a:pPr>
            <a:r>
              <a:t>by Syntax Error</a:t>
            </a:r>
          </a:p>
          <a:p>
            <a:pPr algn="ctr">
              <a:spcBef>
                <a:spcPts val="400"/>
              </a:spcBef>
              <a:defRPr sz="1100">
                <a:solidFill>
                  <a:srgbClr val="9CA3AF"/>
                </a:solidFill>
                <a:latin typeface="Segoe UI"/>
              </a:defRPr>
            </a:pPr>
            <a:r>
              <a:t>AI for Digital Public Infrastructure (DPI) &amp; Governance  •  Track 1 Official Submission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57400"/>
            <a:ext cx="2560320" cy="3657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Paras Singh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CONTRIBUTION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Lead Architect &amp; Full-Stack AI. Designed the Gemini 2.5 multi-agent triage, WhatsApp/Telegram DPI gateway, and CapEx budget realignment engine.</a:t>
            </a:r>
          </a:p>
          <a:p>
            <a:pPr>
              <a:spcBef>
                <a:spcPts val="1000"/>
              </a:spcBef>
              <a:defRPr sz="950" b="1">
                <a:solidFill>
                  <a:srgbClr val="06B6D4"/>
                </a:solidFill>
                <a:latin typeface="Segoe UI"/>
              </a:defRPr>
            </a:pPr>
            <a:r>
              <a:t>LINKEDIN</a:t>
            </a:r>
          </a:p>
          <a:p>
            <a:pPr>
              <a:spcBef>
                <a:spcPts val="200"/>
              </a:spcBef>
              <a:defRPr sz="950">
                <a:solidFill>
                  <a:srgbClr val="F3F4F6"/>
                </a:solidFill>
                <a:latin typeface="Segoe UI"/>
              </a:defRPr>
            </a:pPr>
            <a:r>
              <a:t>🔗 linkedin.com/in/paras-singh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2057400"/>
            <a:ext cx="2560320" cy="3657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39312" y="21488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Frontend &amp; UI/UX Lead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CONTRIBUTION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Interface architecture &amp; user experience. Designed responsive dark glassmorphism portals, real-time voice visualizer HUD, and 5-language multilingual i18n localization.</a:t>
            </a:r>
          </a:p>
          <a:p>
            <a:pPr>
              <a:spcBef>
                <a:spcPts val="1000"/>
              </a:spcBef>
              <a:defRPr sz="950" b="1">
                <a:solidFill>
                  <a:srgbClr val="10B981"/>
                </a:solidFill>
                <a:latin typeface="Segoe UI"/>
              </a:defRPr>
            </a:pPr>
            <a:r>
              <a:t>LINKEDIN</a:t>
            </a:r>
          </a:p>
          <a:p>
            <a:pPr>
              <a:spcBef>
                <a:spcPts val="200"/>
              </a:spcBef>
              <a:defRPr sz="950">
                <a:solidFill>
                  <a:srgbClr val="F3F4F6"/>
                </a:solidFill>
                <a:latin typeface="Segoe UI"/>
              </a:defRPr>
            </a:pPr>
            <a:r>
              <a:t>🔗 linkedin.com/in/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2057400"/>
            <a:ext cx="2560320" cy="3657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64224" y="21488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Cloud &amp; Data Systems Lead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CONTRIBUTION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Cloud orchestration &amp; telemetry. Implemented Google Cloud Run ASGI core, BigQuery GIS spatial warehouse, and OpenAPI 3.0 webhook pipelines.</a:t>
            </a:r>
          </a:p>
          <a:p>
            <a:pPr>
              <a:spcBef>
                <a:spcPts val="10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LINKEDIN</a:t>
            </a:r>
          </a:p>
          <a:p>
            <a:pPr>
              <a:spcBef>
                <a:spcPts val="200"/>
              </a:spcBef>
              <a:defRPr sz="950">
                <a:solidFill>
                  <a:srgbClr val="F3F4F6"/>
                </a:solidFill>
                <a:latin typeface="Segoe UI"/>
              </a:defRPr>
            </a:pPr>
            <a:r>
              <a:t>🔗 linkedin.com/in/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2057400"/>
            <a:ext cx="2560320" cy="3657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89136" y="214884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DPG &amp; Policy Lead</a:t>
            </a:r>
          </a:p>
          <a:p>
            <a:pPr>
              <a:spcBef>
                <a:spcPts val="800"/>
              </a:spcBef>
              <a:defRPr sz="950" b="1">
                <a:solidFill>
                  <a:srgbClr val="F59E0B"/>
                </a:solidFill>
                <a:latin typeface="Segoe UI"/>
              </a:defRPr>
            </a:pPr>
            <a:r>
              <a:t>CONTRIBUTION</a:t>
            </a:r>
          </a:p>
          <a:p>
            <a:pPr>
              <a:spcBef>
                <a:spcPts val="300"/>
              </a:spcBef>
              <a:defRPr sz="1000">
                <a:solidFill>
                  <a:srgbClr val="9CA3AF"/>
                </a:solidFill>
                <a:latin typeface="Segoe UI"/>
              </a:defRPr>
            </a:pPr>
            <a:r>
              <a:t>Governance &amp; standards. Led Digital Public Goods Alliance (DPGA) standard compliance, UN SDG 9/11/16 telemetry, and open government data schemas.</a:t>
            </a:r>
          </a:p>
          <a:p>
            <a:pPr>
              <a:spcBef>
                <a:spcPts val="1000"/>
              </a:spcBef>
              <a:defRPr sz="950" b="1">
                <a:solidFill>
                  <a:srgbClr val="3B82F6"/>
                </a:solidFill>
                <a:latin typeface="Segoe UI"/>
              </a:defRPr>
            </a:pPr>
            <a:r>
              <a:t>LINKEDIN</a:t>
            </a:r>
          </a:p>
          <a:p>
            <a:pPr>
              <a:spcBef>
                <a:spcPts val="200"/>
              </a:spcBef>
              <a:defRPr sz="950">
                <a:solidFill>
                  <a:srgbClr val="F3F4F6"/>
                </a:solidFill>
                <a:latin typeface="Segoe UI"/>
              </a:defRPr>
            </a:pPr>
            <a:r>
              <a:t>🔗 linkedin.com/in/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97880"/>
            <a:ext cx="10789920" cy="3657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92531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9CA3AF"/>
                </a:solidFill>
                <a:latin typeface="Segoe UI"/>
              </a:defRPr>
            </a:pPr>
            <a:r>
              <a:t>🌐 Live Demo: http://localhost:8000   •   💻 GitHub: https://github.com/ParasSingh29/CivicPulse-BRICS   •   📜 Apache 2.0 Open Source DPG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CivicPulse-BRICS • Track 1 Official Pitch Deck  |  Thank You • Team Syntax Error •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1851</Words>
  <Application>Microsoft Office PowerPoint</Application>
  <PresentationFormat>Widescreen</PresentationFormat>
  <Paragraphs>156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Rockwell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Paras Singh</cp:lastModifiedBy>
  <cp:revision>1</cp:revision>
  <dcterms:created xsi:type="dcterms:W3CDTF">2013-01-27T09:14:16Z</dcterms:created>
  <dcterms:modified xsi:type="dcterms:W3CDTF">2026-09-19T08:41:42Z</dcterms:modified>
  <cp:category/>
</cp:coreProperties>
</file>