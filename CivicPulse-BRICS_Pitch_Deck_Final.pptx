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as Singh" userId="58a414ff1ad2c8c5" providerId="LiveId" clId="{DFD62CD7-C182-471F-AA51-D706BC598118}"/>
    <pc:docChg chg="custSel modSld">
      <pc:chgData name="Paras Singh" userId="58a414ff1ad2c8c5" providerId="LiveId" clId="{DFD62CD7-C182-471F-AA51-D706BC598118}" dt="2026-09-26T10:19:30.337" v="2" actId="478"/>
      <pc:docMkLst>
        <pc:docMk/>
      </pc:docMkLst>
      <pc:sldChg chg="delSp mod">
        <pc:chgData name="Paras Singh" userId="58a414ff1ad2c8c5" providerId="LiveId" clId="{DFD62CD7-C182-471F-AA51-D706BC598118}" dt="2026-09-26T10:19:30.337" v="2" actId="478"/>
        <pc:sldMkLst>
          <pc:docMk/>
          <pc:sldMk cId="0" sldId="256"/>
        </pc:sldMkLst>
        <pc:spChg chg="del">
          <ac:chgData name="Paras Singh" userId="58a414ff1ad2c8c5" providerId="LiveId" clId="{DFD62CD7-C182-471F-AA51-D706BC598118}" dt="2026-09-26T10:19:25.514" v="0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Paras Singh" userId="58a414ff1ad2c8c5" providerId="LiveId" clId="{DFD62CD7-C182-471F-AA51-D706BC598118}" dt="2026-09-26T10:19:27.784" v="1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Paras Singh" userId="58a414ff1ad2c8c5" providerId="LiveId" clId="{DFD62CD7-C182-471F-AA51-D706BC598118}" dt="2026-09-26T10:19:30.337" v="2" actId="478"/>
          <ac:spMkLst>
            <pc:docMk/>
            <pc:sldMk cId="0" sldId="256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206240" y="1005840"/>
            <a:ext cx="3749039" cy="411480"/>
          </a:xfrm>
          <a:prstGeom prst="roundRect">
            <a:avLst/>
          </a:prstGeom>
          <a:solidFill>
            <a:srgbClr val="0E233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BRICS INNOVATION THEME  •  TRACK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5000" b="1">
                <a:solidFill>
                  <a:srgbClr val="F0F4FF"/>
                </a:solidFill>
                <a:latin typeface="Trebuchet MS"/>
              </a:defRPr>
            </a:pPr>
            <a:r>
              <a:t>CivicPulse-BRICS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06B6D4"/>
                </a:solidFill>
                <a:latin typeface="Arial"/>
              </a:defRPr>
            </a:pPr>
            <a:r>
              <a:t>Presented by Team Syntax Error</a:t>
            </a:r>
          </a:p>
          <a:p>
            <a:pPr algn="ctr">
              <a:spcBef>
                <a:spcPts val="1000"/>
              </a:spcBef>
              <a:defRPr sz="1500">
                <a:solidFill>
                  <a:srgbClr val="F0F4FF"/>
                </a:solidFill>
                <a:latin typeface="Arial"/>
              </a:defRPr>
            </a:pPr>
            <a:r>
              <a:t>AI for Digital Public Infrastructure &amp; Sovereign Governance Across BRICS Nations</a:t>
            </a:r>
          </a:p>
          <a:p>
            <a:pPr algn="ctr">
              <a:spcBef>
                <a:spcPts val="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Aggregating citizen voice, WhatsApp &amp; Telegram with Google Gemini 2.5 to autonomously realign municipal CapEx budgets.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Arial"/>
              </a:defRPr>
            </a:pPr>
            <a:r>
              <a:t>Google AI Hackathon 2026  •  Digital Public Good (DPGA Standard)  •  Open Source (Apache 2.0)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THE CHALLENGE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The Broken Feedback Loop in Governance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Traditional civic grievance systems fail citizens and municipal planners across 4 critical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EF4444"/>
                </a:solidFill>
                <a:latin typeface="Arial"/>
              </a:defRPr>
            </a:pPr>
            <a:r>
              <a:t>90%+ CIVIC COMPLAINTS LOST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The Dark Data Deficit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Over 90% of citizen grievances on WhatsApp, Telegram and social media never reach municipal systems, leaving cities blind to emerging infrastructure crises.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F59E0B"/>
                </a:solidFill>
                <a:latin typeface="Arial"/>
              </a:defRPr>
            </a:pPr>
            <a:r>
              <a:t>BLIND MULTI-CRORE SPENDING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CapEx Capital Misalignment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Municipal capital expenditures are spent on speculative projects rather than hyper-localized citizen demand, leading to massive fund waste and neglected 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3B82F6"/>
                </a:solidFill>
                <a:latin typeface="Arial"/>
              </a:defRPr>
            </a:pPr>
            <a:r>
              <a:t>VERNACULAR CITIZENS CUT OFF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Multilingual &amp; Digital Exclusion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Standard web portals force rigid forms in English. Citizens speaking Hindi, Portuguese, or Zulu without literacy skills are completely disenfranchised.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8B5CF6"/>
                </a:solidFill>
                <a:latin typeface="Arial"/>
              </a:defRPr>
            </a:pPr>
            <a:r>
              <a:t>ZERO BRICS INTELLIGENCE SHARING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Sovereign Cross-Border Isolation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BRICS cities battle identical urban challenges (flash floods, power disruptions, sanitation) yet possess zero common standard or DPI for policy exchange.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OUR INNOVATION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Unified Sovereign DPI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An AI-orchestrated digital public infrastructure bridging citizens, field crews, and national ministries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06B6D4"/>
                </a:solidFill>
                <a:latin typeface="Arial"/>
              </a:defRPr>
            </a:pPr>
            <a:r>
              <a:t>ZERO-BARRIER INGESTION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Sovereign Multi-Modal Gateway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Citizens report issues by voice notes in local vernaculars, WhatsApp/Telegram bot messaging, or photo uploads with zero barrier to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AUTONOMOUS PRIORITY DISPATCH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Real-Time Municipal Triage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Google Gemini vision models automatically classify defect severity (1-10), hazard level, and assign emergency field crews within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F59E0B"/>
                </a:solidFill>
                <a:latin typeface="Arial"/>
              </a:defRPr>
            </a:pPr>
            <a:r>
              <a:t>DEMAND-VS-BUDGET ANALYTICS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CapEx Misalignment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Fuses thousands of citizen reports with spatial census data to mathematically surface wards with severe budget deficits for urgent capital reallocation.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3B82F6"/>
                </a:solidFill>
                <a:latin typeface="Arial"/>
              </a:defRPr>
            </a:pPr>
            <a:r>
              <a:t>GEMINI 2.5 STRATEGIC PLANNING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BRICS Policy Megaplan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Generates multi-crore infrastructure overhaul megaplans with projected ROI, UN SDG alignments, and cross-border project proposals.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ENGINEERING &amp; TECHNOLOGY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High-Performance Cloud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End-to-end pipeline from edge citizen inputs to national policy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1. Input &amp; Edge Layer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Citizen Ingestion Gateways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Voice Recorder (Web Audio API)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WhatsApp &amp; Telegram Webhooks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Multimodal Camera Vision Scanner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IMD Real-Time Weather HUD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3B82F6"/>
                </a:solidFill>
                <a:latin typeface="Trebuchet MS"/>
              </a:defRPr>
            </a:pPr>
            <a:r>
              <a:t>2. AI Intelligence Tier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Google Gemini 2.5 Pro &amp; Flash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Vision Defect Agent (Severity 1-10)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Speech-to-Text &amp; Vernacular gTTS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Automated Complaint Triage Agent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Gemini CapEx Megaplan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3. Storage &amp; Analytics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BigQuery GIS Warehouse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Python Starlette ASGI (Cloud Run)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BigQuery Spatial Analytics Engine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Streaming Complaint Telemetry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OpenAPI 3.0 Standard Webhooks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4. Consumer Portals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Role-Based Sovereign Hubs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Citizen Sovereign Portal (/citizen)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City Field Operations (/city-official)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National Ministry Hub (/government)</a:t>
            </a:r>
          </a:p>
          <a:p>
            <a:pPr>
              <a:spcBef>
                <a:spcPts val="1200"/>
              </a:spcBef>
              <a:defRPr sz="1100">
                <a:solidFill>
                  <a:srgbClr val="F0F4FF"/>
                </a:solidFill>
                <a:latin typeface="Arial"/>
              </a:defRPr>
            </a:pPr>
            <a:r>
              <a:t>• BRICS Sovereign Portal (/central-official)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AI CAPABILITIES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Multi-Agent Intelligence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Four purpose-built Gemini agents working in parallel to automate municipal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06B6D4"/>
                </a:solidFill>
                <a:latin typeface="Arial"/>
              </a:defRPr>
            </a:pPr>
            <a:r>
              <a:t>VISUAL DEFECT ANALYSIS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Gemini Vision Defect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Analyzes citizen photos of road potholes, drainage clogs, and water line ruptures. Returns defect classification, severity score (1-10), hazard rating, and recommended repair equipment in under 2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3B82F6"/>
                </a:solidFill>
                <a:latin typeface="Arial"/>
              </a:defRPr>
            </a:pPr>
            <a:r>
              <a:t>VERNACULAR INCLUSIVITY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Multilingual Speech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Converts audio recordings in Hindi, Portuguese, or Zulu into structured English text. Translates responses and synthesizes natural-sounding speech feedback in the citizen's native language using Google TTS.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F59E0B"/>
                </a:solidFill>
                <a:latin typeface="Arial"/>
              </a:defRPr>
            </a:pPr>
            <a:r>
              <a:t>MATHEMATICAL DEFICIT DETECTION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CapEx Budget Alignment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Correlates citizen petition density with census demographics, IMD weather risk vectors, and municipal budget line items to uncover severe infrastructure funding deficits per municipal 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EXECUTIVE MEGAPLAN SYNTHESIS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Gemini Policy Directive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Generates multi-crore infrastructure overhaul megaplans for senior ministers and BRICS delegates, complete with GIS spatial demand proof, cost-benefit analysis, and UN SDG alignment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LIVE APPLICATION DEMO — 1 OF 4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Citizen Voice &amp; DPI Gateway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Multimodal grievance reporting via voice recorder, vision defect scanner &amp; messaging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06B6D4"/>
                </a:solidFill>
                <a:latin typeface="Arial"/>
              </a:defRPr>
            </a:pPr>
            <a:r>
              <a:t>VISION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Multimodal Defect Scanner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Upload photo of pothole/defect -&gt; Instant severity score 8.7/10 CRITICAL in under 2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73552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3B82F6"/>
                </a:solidFill>
                <a:latin typeface="Arial"/>
              </a:defRPr>
            </a:pPr>
            <a:r>
              <a:t>VOICE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Multilingual Voice Recorder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Record grievances in Hindi/English with real-time waveform and automated translation.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18304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10B981"/>
                </a:solidFill>
                <a:latin typeface="Arial"/>
              </a:defRPr>
            </a:pPr>
            <a:r>
              <a:t>BOT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WhatsApp &amp; Telegram Bot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Citizens file complaints directly via popular messaging apps with automated webhook intake.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828800"/>
            <a:ext cx="6035040" cy="4297680"/>
          </a:xfrm>
          <a:prstGeom prst="roundRect">
            <a:avLst/>
          </a:prstGeom>
          <a:solidFill>
            <a:srgbClr val="0E142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itizen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901952"/>
            <a:ext cx="5888736" cy="415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LIVE APPLICATION DEMO — 2 OF 4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City Operations &amp; Field Triage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Municipal triage command, severity-ranked repair queues &amp; automated crew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EF4444"/>
                </a:solidFill>
                <a:latin typeface="Arial"/>
              </a:defRPr>
            </a:pPr>
            <a:r>
              <a:t>QUEUE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AI-Ranked Incident Queue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All incoming reports prioritized by Gemini severity score (CRITICAL 9.2/10 first).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73552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F59E0B"/>
                </a:solidFill>
                <a:latin typeface="Arial"/>
              </a:defRPr>
            </a:pPr>
            <a:r>
              <a:t>DISPATCH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Automated Crew Assignment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One-click municipal truck dispatch with live status updates (Truck-01 En Route).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18304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06B6D4"/>
                </a:solidFill>
                <a:latin typeface="Arial"/>
              </a:defRPr>
            </a:pPr>
            <a:r>
              <a:t>ROUTING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Google Maps Field Routing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Turn-by-turn navigation directly to the geotagged defect location for field crews.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828800"/>
            <a:ext cx="6035040" cy="4297680"/>
          </a:xfrm>
          <a:prstGeom prst="roundRect">
            <a:avLst/>
          </a:prstGeom>
          <a:solidFill>
            <a:srgbClr val="0E142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ity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901952"/>
            <a:ext cx="5888736" cy="415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LIVE APPLICATION DEMO — 3 OF 4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National Ministry Command Hub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Spatial demand heatmaps, CapEx misalignment matrix &amp; executive policy directives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3B82F6"/>
                </a:solidFill>
                <a:latin typeface="Arial"/>
              </a:defRPr>
            </a:pPr>
            <a:r>
              <a:t>GIS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Spatial Demand Heatmaps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Real-time density clusters of citizen infrastructure petitions across municipal 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73552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EF4444"/>
                </a:solidFill>
                <a:latin typeface="Arial"/>
              </a:defRPr>
            </a:pPr>
            <a:r>
              <a:t>DEFICIT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CapEx Misalignment Matrix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Surfaces massive funding deficits: 88% citizen demand vs only 24% budget allocated.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18304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F59E0B"/>
                </a:solidFill>
                <a:latin typeface="Arial"/>
              </a:defRPr>
            </a:pPr>
            <a:r>
              <a:t>DIRECTIVES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Gemini Policy Directives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Automated executive-grade capital reallocation orders and strategic investment plans.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828800"/>
            <a:ext cx="6035040" cy="4297680"/>
          </a:xfrm>
          <a:prstGeom prst="roundRect">
            <a:avLst/>
          </a:prstGeom>
          <a:solidFill>
            <a:srgbClr val="0E142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ov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901952"/>
            <a:ext cx="5888736" cy="41513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LIVE APPLICATION DEMO — 4 OF 4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BRICS Sovereign Minister Hub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Multi-nation node federation, cross-border intelligence &amp; UN SDG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09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06B6D4"/>
                </a:solidFill>
                <a:latin typeface="Arial"/>
              </a:defRPr>
            </a:pPr>
            <a:r>
              <a:t>FEDERATION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Multi-Nation Node Switching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Seamlessly toggle between sovereign nodes for India, Brazil, and South Africa.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73552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F59E0B"/>
                </a:solidFill>
                <a:latin typeface="Arial"/>
              </a:defRPr>
            </a:pPr>
            <a:r>
              <a:t>MEGAPLANS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Strategic Megaplan Engine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Auto-generates multi-crore infrastructure overhauls backed by spatial telemetry.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18304"/>
            <a:ext cx="4389120" cy="128016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900" b="1">
                <a:solidFill>
                  <a:srgbClr val="10B981"/>
                </a:solidFill>
                <a:latin typeface="Arial"/>
              </a:defRPr>
            </a:pPr>
            <a:r>
              <a:t>SDG</a:t>
            </a:r>
          </a:p>
          <a:p>
            <a:pPr>
              <a:spcBef>
                <a:spcPts val="200"/>
              </a:spcBef>
              <a:defRPr sz="1300" b="1">
                <a:solidFill>
                  <a:srgbClr val="F0F4FF"/>
                </a:solidFill>
                <a:latin typeface="Trebuchet MS"/>
              </a:defRPr>
            </a:pPr>
            <a:r>
              <a:t>UN SDG Telemetry Dashboard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Live tracking of infrastructure projects aligned with SDG 9, SDG 11, and SDG 16.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828800"/>
            <a:ext cx="6035040" cy="4297680"/>
          </a:xfrm>
          <a:prstGeom prst="roundRect">
            <a:avLst/>
          </a:prstGeom>
          <a:solidFill>
            <a:srgbClr val="0E142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ric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901952"/>
            <a:ext cx="5888736" cy="415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OPEN STANDARDS &amp; GOVERNANCE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Digital Public Good (DPG) Compliance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Engineered from day one for open governance, non-proprietary standards, and citizen 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06B6D4"/>
                </a:solidFill>
                <a:latin typeface="Arial"/>
              </a:defRPr>
            </a:pPr>
            <a:r>
              <a:t>OPEN STANDARDS COMPLIANCE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OpenAPI 3.0 Webhook Spec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Fully compliant OpenAPI 3.0 specification at /api/v1/dpg/spec. Enables zero-friction integration with existing municipal systems and any national messaging gateway.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CITIZEN DATA PROTECTION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Privacy &amp; Security by Design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Zero persistent tracking of personally identifiable information. Passwords and credentials protected with salted PBKDF2-HMAC-SHA256 cryptographic hashing.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3B82F6"/>
                </a:solidFill>
                <a:latin typeface="Arial"/>
              </a:defRPr>
            </a:pPr>
            <a:r>
              <a:t>PUBLIC SECTOR COMPATIBILITY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Open Data &amp; Interoperability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Grievance and spatial data exportable via standard JSON-LD and CSV schemas, 100% interoperable with data.gov.in, dados.gov.br, and global open data repositories.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160520"/>
            <a:ext cx="5120640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000" b="1">
                <a:solidFill>
                  <a:srgbClr val="F59E0B"/>
                </a:solidFill>
                <a:latin typeface="Arial"/>
              </a:defRPr>
            </a:pPr>
            <a:r>
              <a:t>OPEN SOURCE HERITAGE</a:t>
            </a:r>
          </a:p>
          <a:p>
            <a:pPr>
              <a:spcBef>
                <a:spcPts val="400"/>
              </a:spcBef>
              <a:defRPr sz="1700" b="1">
                <a:solidFill>
                  <a:srgbClr val="F0F4FF"/>
                </a:solidFill>
                <a:latin typeface="Trebuchet MS"/>
              </a:defRPr>
            </a:pPr>
            <a:r>
              <a:t>DPGA Standard Aligned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Adheres strictly to the 9 indicators of the Digital Public Goods Alliance standard. Licensed under Apache 2.0 with full public GitHub repository documentation.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DEMONSTRATED VALUE</a:t>
            </a:r>
          </a:p>
          <a:p>
            <a:pPr>
              <a:defRPr sz="2600" b="1">
                <a:solidFill>
                  <a:srgbClr val="F0F4FF"/>
                </a:solidFill>
                <a:latin typeface="Trebuchet MS"/>
              </a:defRPr>
            </a:pPr>
            <a:r>
              <a:t>Quantitative Impact &amp; Global Scalability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Measurable improvements in municipal response time, budget efficiency, and global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6B6D4"/>
                </a:solidFill>
                <a:latin typeface="Arial"/>
              </a:defRPr>
            </a:pPr>
            <a: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CivicPulse-BRICS  •  Team Syntax Error  •  Build with AI: Code for Communities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0" rIns="182880" rtlCol="0" anchor="ctr"/>
          <a:lstStyle/>
          <a:p>
            <a:pPr algn="ctr">
              <a:defRPr sz="3800" b="1">
                <a:solidFill>
                  <a:srgbClr val="06B6D4"/>
                </a:solidFill>
                <a:latin typeface="Trebuchet MS"/>
              </a:defRPr>
            </a:pPr>
            <a:r>
              <a:t>78%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F0F4FF"/>
                </a:solidFill>
                <a:latin typeface="Arial"/>
              </a:defRPr>
            </a:pPr>
            <a:r>
              <a:t>Faster Resolution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Reduction in average grievance turnaround time through automated Gemini triage and direct field routing.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0" rIns="182880" rtlCol="0" anchor="ctr"/>
          <a:lstStyle/>
          <a:p>
            <a:pPr algn="ctr">
              <a:defRPr sz="3800" b="1">
                <a:solidFill>
                  <a:srgbClr val="10B981"/>
                </a:solidFill>
                <a:latin typeface="Trebuchet MS"/>
              </a:defRPr>
            </a:pPr>
            <a:r>
              <a:t>94%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F0F4FF"/>
                </a:solidFill>
                <a:latin typeface="Arial"/>
              </a:defRPr>
            </a:pPr>
            <a:r>
              <a:t>Vision Accuracy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Precision in autonomous defect classification and severity scoring across thousands of road/drain images.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0" rIns="182880" rtlCol="0" anchor="ctr"/>
          <a:lstStyle/>
          <a:p>
            <a:pPr algn="ctr">
              <a:defRPr sz="3800" b="1">
                <a:solidFill>
                  <a:srgbClr val="F59E0B"/>
                </a:solidFill>
                <a:latin typeface="Trebuchet MS"/>
              </a:defRPr>
            </a:pPr>
            <a:r>
              <a:t>₹120 Cr+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F0F4FF"/>
                </a:solidFill>
                <a:latin typeface="Arial"/>
              </a:defRPr>
            </a:pPr>
            <a:r>
              <a:t>Misallocation Flagged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Capital expenditure deficits identified and re-aligned with actual high-density citizen demand.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783080"/>
            <a:ext cx="2542032" cy="429768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0" rIns="182880" rtlCol="0" anchor="ctr"/>
          <a:lstStyle/>
          <a:p>
            <a:pPr algn="ctr">
              <a:defRPr sz="3800" b="1">
                <a:solidFill>
                  <a:srgbClr val="3B82F6"/>
                </a:solidFill>
                <a:latin typeface="Trebuchet MS"/>
              </a:defRPr>
            </a:pPr>
            <a:r>
              <a:t>10+ Nations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F0F4FF"/>
                </a:solidFill>
                <a:latin typeface="Arial"/>
              </a:defRPr>
            </a:pPr>
            <a:r>
              <a:t>BRICS+ Scalability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Architected for frictionless deployment across India, Brazil, South Africa, UAE, Egypt, and beyond.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6289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4600" b="1">
                <a:solidFill>
                  <a:srgbClr val="F0F4FF"/>
                </a:solidFill>
                <a:latin typeface="Trebuchet MS"/>
              </a:defRPr>
            </a:pPr>
            <a:r>
              <a:t>THANK YOU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06B6D4"/>
                </a:solidFill>
                <a:latin typeface="Arial"/>
              </a:defRPr>
            </a:pPr>
            <a:r>
              <a:t>Presented by Team Syntax Error</a:t>
            </a:r>
          </a:p>
          <a:p>
            <a:pPr algn="ctr"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Build with AI: Code for Communities 2nd Edition  •  Google AI 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2542032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600" b="1">
                <a:solidFill>
                  <a:srgbClr val="F0F4FF"/>
                </a:solidFill>
                <a:latin typeface="Trebuchet MS"/>
              </a:defRPr>
            </a:pPr>
            <a:r>
              <a:t>Paras Singh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Team Lead &amp; Full-Stack</a:t>
            </a:r>
          </a:p>
          <a:p>
            <a:pPr algn="ctr">
              <a:spcBef>
                <a:spcPts val="6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Project concept &amp; AI system design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Built core platform &amp; connected all portals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2331720"/>
            <a:ext cx="2542032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600" b="1">
                <a:solidFill>
                  <a:srgbClr val="F0F4FF"/>
                </a:solidFill>
                <a:latin typeface="Trebuchet MS"/>
              </a:defRPr>
            </a:pPr>
            <a:r>
              <a:t>Aradhara Pal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3B82F6"/>
                </a:solidFill>
                <a:latin typeface="Arial"/>
              </a:defRPr>
            </a:pPr>
            <a:r>
              <a:t>Frontend &amp; UI/UX Designer</a:t>
            </a:r>
          </a:p>
          <a:p>
            <a:pPr algn="ctr">
              <a:spcBef>
                <a:spcPts val="6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Designed website layouts &amp; mobile screens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Created dashboards for citizens &amp; officials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2331720"/>
            <a:ext cx="2542032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600" b="1">
                <a:solidFill>
                  <a:srgbClr val="F0F4FF"/>
                </a:solidFill>
                <a:latin typeface="Trebuchet MS"/>
              </a:defRPr>
            </a:pPr>
            <a:r>
              <a:t>Anshika Anand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F59E0B"/>
                </a:solidFill>
                <a:latin typeface="Arial"/>
              </a:defRPr>
            </a:pPr>
            <a:r>
              <a:t>Backend &amp; Cloud Developer</a:t>
            </a:r>
          </a:p>
          <a:p>
            <a:pPr algn="ctr">
              <a:spcBef>
                <a:spcPts val="6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Set up server, database &amp; Render hosting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Integrated WhatsApp &amp; Telegram bots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2331720"/>
            <a:ext cx="2542032" cy="2103120"/>
          </a:xfrm>
          <a:prstGeom prst="roundRect">
            <a:avLst/>
          </a:prstGeom>
          <a:solidFill>
            <a:srgbClr val="12192B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600" b="1">
                <a:solidFill>
                  <a:srgbClr val="F0F4FF"/>
                </a:solidFill>
                <a:latin typeface="Trebuchet MS"/>
              </a:defRPr>
            </a:pPr>
            <a:r>
              <a:t>Himanshi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Product Research &amp; Testing</a:t>
            </a:r>
          </a:p>
          <a:p>
            <a:pPr algn="ctr">
              <a:spcBef>
                <a:spcPts val="6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Researched city budget data &amp; guidelines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Tested user workflows &amp; documentation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371600"/>
          </a:xfrm>
          <a:prstGeom prst="roundRect">
            <a:avLst/>
          </a:prstGeom>
          <a:solidFill>
            <a:srgbClr val="0E1424"/>
          </a:solidFill>
          <a:ln w="1524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28600" rtlCol="0" anchor="ctr"/>
          <a:lstStyle/>
          <a:p>
            <a:pPr algn="ctr">
              <a:defRPr sz="1400" b="1">
                <a:solidFill>
                  <a:srgbClr val="06B6D4"/>
                </a:solidFill>
                <a:latin typeface="Arial"/>
              </a:defRPr>
            </a:pPr>
            <a:r>
              <a:t>Live Deployment: https://civicpulse-brics.onrender.com</a:t>
            </a:r>
          </a:p>
          <a:p>
            <a:pPr algn="ctr">
              <a:spcBef>
                <a:spcPts val="600"/>
              </a:spcBef>
              <a:defRPr sz="1300">
                <a:solidFill>
                  <a:srgbClr val="F0F4FF"/>
                </a:solidFill>
                <a:latin typeface="Arial"/>
              </a:defRPr>
            </a:pPr>
            <a:r>
              <a:t>GitHub Repository: https://github.com/ParasSingh29/CivicPulse-BRICS</a:t>
            </a:r>
          </a:p>
          <a:p>
            <a:pPr algn="ctr">
              <a:spcBef>
                <a:spcPts val="6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Licensed under Apache 2.0  •  Digital Public Good (DPGA) Compliant  •  Open for Community Contributions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1525</Words>
  <Application>Microsoft Office PowerPoint</Application>
  <PresentationFormat>Widescreen</PresentationFormat>
  <Paragraphs>198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Paras Singh</cp:lastModifiedBy>
  <cp:revision>1</cp:revision>
  <dcterms:created xsi:type="dcterms:W3CDTF">2013-01-27T09:14:16Z</dcterms:created>
  <dcterms:modified xsi:type="dcterms:W3CDTF">2026-09-26T10:19:35Z</dcterms:modified>
  <cp:category/>
</cp:coreProperties>
</file>